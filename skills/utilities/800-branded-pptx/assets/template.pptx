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463040"/>
            <a:ext cx="8229600" cy="457200"/>
          </a:xfrm>
          <a:prstGeom prst="rect">
            <a:avLst/>
          </a:prstGeom>
          <a:noFill/>
          <a:ln/>
        </p:spPr>
        <p:txBody>
          <a:bodyPr wrap="square" rtlCol="0" anchor="ctr"/>
          <a:lstStyle/>
          <a:p>
            <a:pPr indent="0" marL="0">
              <a:buNone/>
            </a:pPr>
            <a:r>
              <a:rPr lang="en-US" sz="1600" dirty="0">
                <a:solidFill>
                  <a:srgbClr val="FFFFFF"/>
                </a:solidFill>
                <a:latin typeface="Meiryo UI" pitchFamily="34" charset="0"/>
                <a:ea typeface="Meiryo UI" pitchFamily="34" charset="-122"/>
                <a:cs typeface="Meiryo UI" pitchFamily="34" charset="-120"/>
              </a:rPr>
              <a:t>ブライトリンク様</a:t>
            </a:r>
            <a:endParaRPr lang="en-US" sz="1600" dirty="0"/>
          </a:p>
        </p:txBody>
      </p:sp>
      <p:sp>
        <p:nvSpPr>
          <p:cNvPr id="3" name="Text 1"/>
          <p:cNvSpPr/>
          <p:nvPr/>
        </p:nvSpPr>
        <p:spPr>
          <a:xfrm>
            <a:off x="457200" y="1920240"/>
            <a:ext cx="8229600" cy="914400"/>
          </a:xfrm>
          <a:prstGeom prst="rect">
            <a:avLst/>
          </a:prstGeom>
          <a:noFill/>
          <a:ln/>
        </p:spPr>
        <p:txBody>
          <a:bodyPr wrap="square" rtlCol="0" anchor="ctr"/>
          <a:lstStyle/>
          <a:p>
            <a:pPr indent="0" marL="0">
              <a:buNone/>
            </a:pPr>
            <a:r>
              <a:rPr lang="en-US" sz="3200" dirty="0">
                <a:solidFill>
                  <a:srgbClr val="FFFFFF"/>
                </a:solidFill>
                <a:latin typeface="Meiryo UI" pitchFamily="34" charset="0"/>
                <a:ea typeface="Meiryo UI" pitchFamily="34" charset="-122"/>
                <a:cs typeface="Meiryo UI" pitchFamily="34" charset="-120"/>
              </a:rPr>
              <a:t>アドバイザー業務での</a:t>
            </a:r>
            <a:pPr indent="0" marL="0">
              <a:buNone/>
            </a:pPr>
            <a:r>
              <a:rPr lang="en-US" sz="3200" dirty="0">
                <a:solidFill>
                  <a:srgbClr val="FFFFFF"/>
                </a:solidFill>
                <a:latin typeface="Century Gothic" pitchFamily="34" charset="0"/>
                <a:ea typeface="Century Gothic" pitchFamily="34" charset="-122"/>
                <a:cs typeface="Century Gothic" pitchFamily="34" charset="-120"/>
              </a:rPr>
              <a:t>AI</a:t>
            </a:r>
            <a:pPr indent="0" marL="0">
              <a:buNone/>
            </a:pPr>
            <a:r>
              <a:rPr lang="en-US" sz="3200" dirty="0">
                <a:solidFill>
                  <a:srgbClr val="FFFFFF"/>
                </a:solidFill>
                <a:latin typeface="Meiryo UI" pitchFamily="34" charset="0"/>
                <a:ea typeface="Meiryo UI" pitchFamily="34" charset="-122"/>
                <a:cs typeface="Meiryo UI" pitchFamily="34" charset="-120"/>
              </a:rPr>
              <a:t>活用提案</a:t>
            </a:r>
            <a:endParaRPr lang="en-US" sz="3200" dirty="0"/>
          </a:p>
        </p:txBody>
      </p:sp>
      <p:sp>
        <p:nvSpPr>
          <p:cNvPr id="4" name="Text 2"/>
          <p:cNvSpPr/>
          <p:nvPr/>
        </p:nvSpPr>
        <p:spPr>
          <a:xfrm>
            <a:off x="457200" y="2926080"/>
            <a:ext cx="8229600" cy="457200"/>
          </a:xfrm>
          <a:prstGeom prst="rect">
            <a:avLst/>
          </a:prstGeom>
          <a:noFill/>
          <a:ln/>
        </p:spPr>
        <p:txBody>
          <a:bodyPr wrap="square" rtlCol="0" anchor="ctr"/>
          <a:lstStyle/>
          <a:p>
            <a:pPr indent="0" marL="0">
              <a:buNone/>
            </a:pPr>
            <a:r>
              <a:rPr lang="en-US" sz="1400" dirty="0">
                <a:solidFill>
                  <a:srgbClr val="FFFFFF"/>
                </a:solidFill>
                <a:latin typeface="Meiryo UI" pitchFamily="34" charset="0"/>
                <a:ea typeface="Meiryo UI" pitchFamily="34" charset="-122"/>
                <a:cs typeface="Meiryo UI" pitchFamily="34" charset="-120"/>
              </a:rPr>
              <a:t>〜 面談の可視化と業務効率化に向けた</a:t>
            </a:r>
            <a:pPr indent="0" marL="0">
              <a:buNone/>
            </a:pPr>
            <a:r>
              <a:rPr lang="en-US" sz="1400" dirty="0">
                <a:solidFill>
                  <a:srgbClr val="FFFFFF"/>
                </a:solidFill>
                <a:latin typeface="Century Gothic" pitchFamily="34" charset="0"/>
                <a:ea typeface="Century Gothic" pitchFamily="34" charset="-122"/>
                <a:cs typeface="Century Gothic" pitchFamily="34" charset="-120"/>
              </a:rPr>
              <a:t>PoC</a:t>
            </a:r>
            <a:pPr indent="0" marL="0">
              <a:buNone/>
            </a:pPr>
            <a:r>
              <a:rPr lang="en-US" sz="1400" dirty="0">
                <a:solidFill>
                  <a:srgbClr val="FFFFFF"/>
                </a:solidFill>
                <a:latin typeface="Meiryo UI" pitchFamily="34" charset="0"/>
                <a:ea typeface="Meiryo UI" pitchFamily="34" charset="-122"/>
                <a:cs typeface="Meiryo UI" pitchFamily="34" charset="-120"/>
              </a:rPr>
              <a:t>のご提案 〜</a:t>
            </a:r>
            <a:endParaRPr lang="en-US" sz="1400" dirty="0"/>
          </a:p>
        </p:txBody>
      </p:sp>
      <p:sp>
        <p:nvSpPr>
          <p:cNvPr id="5" name="Text 3"/>
          <p:cNvSpPr/>
          <p:nvPr/>
        </p:nvSpPr>
        <p:spPr>
          <a:xfrm>
            <a:off x="457200" y="4389120"/>
            <a:ext cx="1371600" cy="365760"/>
          </a:xfrm>
          <a:prstGeom prst="rect">
            <a:avLst/>
          </a:prstGeom>
          <a:noFill/>
          <a:ln/>
        </p:spPr>
        <p:txBody>
          <a:bodyPr wrap="square" rtlCol="0" anchor="ctr"/>
          <a:lstStyle/>
          <a:p>
            <a:pPr indent="0" marL="0">
              <a:buNone/>
            </a:pPr>
            <a:r>
              <a:rPr lang="en-US" sz="1600" dirty="0">
                <a:solidFill>
                  <a:srgbClr val="FFFFFF"/>
                </a:solidFill>
                <a:latin typeface="Century Gothic" pitchFamily="34" charset="0"/>
                <a:ea typeface="Century Gothic" pitchFamily="34" charset="-122"/>
                <a:cs typeface="Century Gothic" pitchFamily="34" charset="-120"/>
              </a:rPr>
              <a:t>≠800</a:t>
            </a:r>
            <a:endParaRPr lang="en-US" sz="1600" dirty="0"/>
          </a:p>
        </p:txBody>
      </p:sp>
      <p:sp>
        <p:nvSpPr>
          <p:cNvPr id="6" name="Text 4"/>
          <p:cNvSpPr/>
          <p:nvPr/>
        </p:nvSpPr>
        <p:spPr>
          <a:xfrm>
            <a:off x="1828800" y="4389120"/>
            <a:ext cx="3657600" cy="365760"/>
          </a:xfrm>
          <a:prstGeom prst="rect">
            <a:avLst/>
          </a:prstGeom>
          <a:noFill/>
          <a:ln/>
        </p:spPr>
        <p:txBody>
          <a:bodyPr wrap="square" rtlCol="0" anchor="ctr"/>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株式会社エイトハンドレッド</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Contents</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Meiryo UI" pitchFamily="34" charset="0"/>
                <a:ea typeface="Meiryo UI" pitchFamily="34" charset="-122"/>
                <a:cs typeface="Meiryo UI" pitchFamily="34" charset="-120"/>
              </a:rPr>
              <a:t>目次</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本提案は以下の</a:t>
            </a:r>
            <a:pPr indent="0" marL="0">
              <a:buNone/>
            </a:pPr>
            <a:r>
              <a:rPr lang="en-US" sz="1400" dirty="0">
                <a:solidFill>
                  <a:srgbClr val="404040"/>
                </a:solidFill>
                <a:latin typeface="Century Gothic" pitchFamily="34" charset="0"/>
                <a:ea typeface="Century Gothic" pitchFamily="34" charset="-122"/>
                <a:cs typeface="Century Gothic" pitchFamily="34" charset="-120"/>
              </a:rPr>
              <a:t>6</a:t>
            </a:r>
            <a:pPr indent="0" marL="0">
              <a:buNone/>
            </a:pPr>
            <a:r>
              <a:rPr lang="en-US" sz="1400" dirty="0">
                <a:solidFill>
                  <a:srgbClr val="404040"/>
                </a:solidFill>
                <a:latin typeface="Meiryo UI" pitchFamily="34" charset="0"/>
                <a:ea typeface="Meiryo UI" pitchFamily="34" charset="-122"/>
                <a:cs typeface="Meiryo UI" pitchFamily="34" charset="-120"/>
              </a:rPr>
              <a:t>つの章で構成される。</a:t>
            </a:r>
            <a:endParaRPr lang="en-US" sz="1400" dirty="0"/>
          </a:p>
        </p:txBody>
      </p:sp>
      <p:sp>
        <p:nvSpPr>
          <p:cNvPr id="6" name="Text 4"/>
          <p:cNvSpPr/>
          <p:nvPr/>
        </p:nvSpPr>
        <p:spPr>
          <a:xfrm>
            <a:off x="457200" y="1463040"/>
            <a:ext cx="548640" cy="457200"/>
          </a:xfrm>
          <a:prstGeom prst="rect">
            <a:avLst/>
          </a:prstGeom>
          <a:noFill/>
          <a:ln/>
        </p:spPr>
        <p:txBody>
          <a:bodyPr wrap="square" rtlCol="0" anchor="ctr"/>
          <a:lstStyle/>
          <a:p>
            <a:pPr indent="0" marL="0">
              <a:buNone/>
            </a:pPr>
            <a:r>
              <a:rPr lang="en-US" sz="1800" b="1" dirty="0">
                <a:solidFill>
                  <a:srgbClr val="29BA74"/>
                </a:solidFill>
                <a:latin typeface="Century Gothic" pitchFamily="34" charset="0"/>
                <a:ea typeface="Century Gothic" pitchFamily="34" charset="-122"/>
                <a:cs typeface="Century Gothic" pitchFamily="34" charset="-120"/>
              </a:rPr>
              <a:t>01</a:t>
            </a:r>
            <a:endParaRPr lang="en-US" sz="1800" dirty="0"/>
          </a:p>
        </p:txBody>
      </p:sp>
      <p:sp>
        <p:nvSpPr>
          <p:cNvPr id="7" name="Text 5"/>
          <p:cNvSpPr/>
          <p:nvPr/>
        </p:nvSpPr>
        <p:spPr>
          <a:xfrm>
            <a:off x="1097280" y="1463040"/>
            <a:ext cx="3657600" cy="292608"/>
          </a:xfrm>
          <a:prstGeom prst="rect">
            <a:avLst/>
          </a:prstGeom>
          <a:noFill/>
          <a:ln/>
        </p:spPr>
        <p:txBody>
          <a:bodyPr wrap="square" rtlCol="0" anchor="ctr"/>
          <a:lstStyle/>
          <a:p>
            <a:pPr indent="0" marL="0">
              <a:buNone/>
            </a:pPr>
            <a:r>
              <a:rPr lang="en-US" sz="1300" b="1" dirty="0">
                <a:solidFill>
                  <a:srgbClr val="404040"/>
                </a:solidFill>
                <a:latin typeface="Meiryo UI" pitchFamily="34" charset="0"/>
                <a:ea typeface="Meiryo UI" pitchFamily="34" charset="-122"/>
                <a:cs typeface="Meiryo UI" pitchFamily="34" charset="-120"/>
              </a:rPr>
              <a:t>本提案の最重要ポイント</a:t>
            </a:r>
            <a:endParaRPr lang="en-US" sz="1300" dirty="0"/>
          </a:p>
        </p:txBody>
      </p:sp>
      <p:sp>
        <p:nvSpPr>
          <p:cNvPr id="8" name="Text 6"/>
          <p:cNvSpPr/>
          <p:nvPr/>
        </p:nvSpPr>
        <p:spPr>
          <a:xfrm>
            <a:off x="1097280" y="1719072"/>
            <a:ext cx="7315200" cy="201168"/>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録音許諾の重要性と顧客メリット設計</a:t>
            </a:r>
            <a:endParaRPr lang="en-US" sz="1000" dirty="0"/>
          </a:p>
        </p:txBody>
      </p:sp>
      <p:sp>
        <p:nvSpPr>
          <p:cNvPr id="9" name="Shape 7"/>
          <p:cNvSpPr/>
          <p:nvPr/>
        </p:nvSpPr>
        <p:spPr>
          <a:xfrm>
            <a:off x="457200" y="1965960"/>
            <a:ext cx="8229600" cy="9144"/>
          </a:xfrm>
          <a:prstGeom prst="rect">
            <a:avLst/>
          </a:prstGeom>
          <a:solidFill>
            <a:srgbClr val="E0E0E0"/>
          </a:solidFill>
          <a:ln/>
        </p:spPr>
      </p:sp>
      <p:sp>
        <p:nvSpPr>
          <p:cNvPr id="10" name="Text 8"/>
          <p:cNvSpPr/>
          <p:nvPr/>
        </p:nvSpPr>
        <p:spPr>
          <a:xfrm>
            <a:off x="457200" y="2011680"/>
            <a:ext cx="548640" cy="457200"/>
          </a:xfrm>
          <a:prstGeom prst="rect">
            <a:avLst/>
          </a:prstGeom>
          <a:noFill/>
          <a:ln/>
        </p:spPr>
        <p:txBody>
          <a:bodyPr wrap="square" rtlCol="0" anchor="ctr"/>
          <a:lstStyle/>
          <a:p>
            <a:pPr indent="0" marL="0">
              <a:buNone/>
            </a:pPr>
            <a:r>
              <a:rPr lang="en-US" sz="1800" b="1" dirty="0">
                <a:solidFill>
                  <a:srgbClr val="29BA74"/>
                </a:solidFill>
                <a:latin typeface="Century Gothic" pitchFamily="34" charset="0"/>
                <a:ea typeface="Century Gothic" pitchFamily="34" charset="-122"/>
                <a:cs typeface="Century Gothic" pitchFamily="34" charset="-120"/>
              </a:rPr>
              <a:t>02</a:t>
            </a:r>
            <a:endParaRPr lang="en-US" sz="1800" dirty="0"/>
          </a:p>
        </p:txBody>
      </p:sp>
      <p:sp>
        <p:nvSpPr>
          <p:cNvPr id="11" name="Text 9"/>
          <p:cNvSpPr/>
          <p:nvPr/>
        </p:nvSpPr>
        <p:spPr>
          <a:xfrm>
            <a:off x="1097280" y="2011680"/>
            <a:ext cx="3657600" cy="292608"/>
          </a:xfrm>
          <a:prstGeom prst="rect">
            <a:avLst/>
          </a:prstGeom>
          <a:noFill/>
          <a:ln/>
        </p:spPr>
        <p:txBody>
          <a:bodyPr wrap="square" rtlCol="0" anchor="ctr"/>
          <a:lstStyle/>
          <a:p>
            <a:pPr indent="0" marL="0">
              <a:buNone/>
            </a:pPr>
            <a:r>
              <a:rPr lang="en-US" sz="1300" b="1" dirty="0">
                <a:solidFill>
                  <a:srgbClr val="404040"/>
                </a:solidFill>
                <a:latin typeface="Meiryo UI" pitchFamily="34" charset="0"/>
                <a:ea typeface="Meiryo UI" pitchFamily="34" charset="-122"/>
                <a:cs typeface="Meiryo UI" pitchFamily="34" charset="-120"/>
              </a:rPr>
              <a:t>運用ワークフロー全体像</a:t>
            </a:r>
            <a:endParaRPr lang="en-US" sz="1300" dirty="0"/>
          </a:p>
        </p:txBody>
      </p:sp>
      <p:sp>
        <p:nvSpPr>
          <p:cNvPr id="12" name="Text 10"/>
          <p:cNvSpPr/>
          <p:nvPr/>
        </p:nvSpPr>
        <p:spPr>
          <a:xfrm>
            <a:off x="1097280" y="2267712"/>
            <a:ext cx="7315200" cy="201168"/>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面談前〜面談後の4フェーズ</a:t>
            </a:r>
            <a:endParaRPr lang="en-US" sz="1000" dirty="0"/>
          </a:p>
        </p:txBody>
      </p:sp>
      <p:sp>
        <p:nvSpPr>
          <p:cNvPr id="13" name="Shape 11"/>
          <p:cNvSpPr/>
          <p:nvPr/>
        </p:nvSpPr>
        <p:spPr>
          <a:xfrm>
            <a:off x="457200" y="2514600"/>
            <a:ext cx="8229600" cy="9144"/>
          </a:xfrm>
          <a:prstGeom prst="rect">
            <a:avLst/>
          </a:prstGeom>
          <a:solidFill>
            <a:srgbClr val="E0E0E0"/>
          </a:solidFill>
          <a:ln/>
        </p:spPr>
      </p:sp>
      <p:sp>
        <p:nvSpPr>
          <p:cNvPr id="14" name="Text 12"/>
          <p:cNvSpPr/>
          <p:nvPr/>
        </p:nvSpPr>
        <p:spPr>
          <a:xfrm>
            <a:off x="457200" y="2560320"/>
            <a:ext cx="548640" cy="457200"/>
          </a:xfrm>
          <a:prstGeom prst="rect">
            <a:avLst/>
          </a:prstGeom>
          <a:noFill/>
          <a:ln/>
        </p:spPr>
        <p:txBody>
          <a:bodyPr wrap="square" rtlCol="0" anchor="ctr"/>
          <a:lstStyle/>
          <a:p>
            <a:pPr indent="0" marL="0">
              <a:buNone/>
            </a:pPr>
            <a:r>
              <a:rPr lang="en-US" sz="1800" b="1" dirty="0">
                <a:solidFill>
                  <a:srgbClr val="29BA74"/>
                </a:solidFill>
                <a:latin typeface="Century Gothic" pitchFamily="34" charset="0"/>
                <a:ea typeface="Century Gothic" pitchFamily="34" charset="-122"/>
                <a:cs typeface="Century Gothic" pitchFamily="34" charset="-120"/>
              </a:rPr>
              <a:t>03</a:t>
            </a:r>
            <a:endParaRPr lang="en-US" sz="1800" dirty="0"/>
          </a:p>
        </p:txBody>
      </p:sp>
      <p:sp>
        <p:nvSpPr>
          <p:cNvPr id="15" name="Text 13"/>
          <p:cNvSpPr/>
          <p:nvPr/>
        </p:nvSpPr>
        <p:spPr>
          <a:xfrm>
            <a:off x="1097280" y="2560320"/>
            <a:ext cx="3657600" cy="292608"/>
          </a:xfrm>
          <a:prstGeom prst="rect">
            <a:avLst/>
          </a:prstGeom>
          <a:noFill/>
          <a:ln/>
        </p:spPr>
        <p:txBody>
          <a:bodyPr wrap="square" rtlCol="0" anchor="ctr"/>
          <a:lstStyle/>
          <a:p>
            <a:pPr indent="0" marL="0">
              <a:buNone/>
            </a:pPr>
            <a:r>
              <a:rPr lang="en-US" sz="1300" b="1" dirty="0">
                <a:solidFill>
                  <a:srgbClr val="404040"/>
                </a:solidFill>
                <a:latin typeface="Meiryo UI" pitchFamily="34" charset="0"/>
                <a:ea typeface="Meiryo UI" pitchFamily="34" charset="-122"/>
                <a:cs typeface="Meiryo UI" pitchFamily="34" charset="-120"/>
              </a:rPr>
              <a:t>取り組み範囲・ロードマップ</a:t>
            </a:r>
            <a:endParaRPr lang="en-US" sz="1300" dirty="0"/>
          </a:p>
        </p:txBody>
      </p:sp>
      <p:sp>
        <p:nvSpPr>
          <p:cNvPr id="16" name="Text 14"/>
          <p:cNvSpPr/>
          <p:nvPr/>
        </p:nvSpPr>
        <p:spPr>
          <a:xfrm>
            <a:off x="1097280" y="2816352"/>
            <a:ext cx="7315200" cy="201168"/>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Phase 1〜3の段階的導入計画</a:t>
            </a:r>
            <a:endParaRPr lang="en-US" sz="1000" dirty="0"/>
          </a:p>
        </p:txBody>
      </p:sp>
      <p:sp>
        <p:nvSpPr>
          <p:cNvPr id="17" name="Shape 15"/>
          <p:cNvSpPr/>
          <p:nvPr/>
        </p:nvSpPr>
        <p:spPr>
          <a:xfrm>
            <a:off x="457200" y="3063240"/>
            <a:ext cx="8229600" cy="9144"/>
          </a:xfrm>
          <a:prstGeom prst="rect">
            <a:avLst/>
          </a:prstGeom>
          <a:solidFill>
            <a:srgbClr val="E0E0E0"/>
          </a:solidFill>
          <a:ln/>
        </p:spPr>
      </p:sp>
      <p:sp>
        <p:nvSpPr>
          <p:cNvPr id="18" name="Text 16"/>
          <p:cNvSpPr/>
          <p:nvPr/>
        </p:nvSpPr>
        <p:spPr>
          <a:xfrm>
            <a:off x="457200" y="3108960"/>
            <a:ext cx="548640" cy="457200"/>
          </a:xfrm>
          <a:prstGeom prst="rect">
            <a:avLst/>
          </a:prstGeom>
          <a:noFill/>
          <a:ln/>
        </p:spPr>
        <p:txBody>
          <a:bodyPr wrap="square" rtlCol="0" anchor="ctr"/>
          <a:lstStyle/>
          <a:p>
            <a:pPr indent="0" marL="0">
              <a:buNone/>
            </a:pPr>
            <a:r>
              <a:rPr lang="en-US" sz="1800" b="1" dirty="0">
                <a:solidFill>
                  <a:srgbClr val="29BA74"/>
                </a:solidFill>
                <a:latin typeface="Century Gothic" pitchFamily="34" charset="0"/>
                <a:ea typeface="Century Gothic" pitchFamily="34" charset="-122"/>
                <a:cs typeface="Century Gothic" pitchFamily="34" charset="-120"/>
              </a:rPr>
              <a:t>04</a:t>
            </a:r>
            <a:endParaRPr lang="en-US" sz="1800" dirty="0"/>
          </a:p>
        </p:txBody>
      </p:sp>
      <p:sp>
        <p:nvSpPr>
          <p:cNvPr id="19" name="Text 17"/>
          <p:cNvSpPr/>
          <p:nvPr/>
        </p:nvSpPr>
        <p:spPr>
          <a:xfrm>
            <a:off x="1097280" y="3108960"/>
            <a:ext cx="3657600" cy="292608"/>
          </a:xfrm>
          <a:prstGeom prst="rect">
            <a:avLst/>
          </a:prstGeom>
          <a:noFill/>
          <a:ln/>
        </p:spPr>
        <p:txBody>
          <a:bodyPr wrap="square" rtlCol="0" anchor="ctr"/>
          <a:lstStyle/>
          <a:p>
            <a:pPr indent="0" marL="0">
              <a:buNone/>
            </a:pPr>
            <a:r>
              <a:rPr lang="en-US" sz="1300" b="1" dirty="0">
                <a:solidFill>
                  <a:srgbClr val="404040"/>
                </a:solidFill>
                <a:latin typeface="Meiryo UI" pitchFamily="34" charset="0"/>
                <a:ea typeface="Meiryo UI" pitchFamily="34" charset="-122"/>
                <a:cs typeface="Meiryo UI" pitchFamily="34" charset="-120"/>
              </a:rPr>
              <a:t>ソリューション概要</a:t>
            </a:r>
            <a:endParaRPr lang="en-US" sz="1300" dirty="0"/>
          </a:p>
        </p:txBody>
      </p:sp>
      <p:sp>
        <p:nvSpPr>
          <p:cNvPr id="20" name="Text 18"/>
          <p:cNvSpPr/>
          <p:nvPr/>
        </p:nvSpPr>
        <p:spPr>
          <a:xfrm>
            <a:off x="1097280" y="3364992"/>
            <a:ext cx="7315200" cy="201168"/>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PoCアーキテクチャ（パターンA/B）</a:t>
            </a:r>
            <a:endParaRPr lang="en-US" sz="1000" dirty="0"/>
          </a:p>
        </p:txBody>
      </p:sp>
      <p:sp>
        <p:nvSpPr>
          <p:cNvPr id="21" name="Shape 19"/>
          <p:cNvSpPr/>
          <p:nvPr/>
        </p:nvSpPr>
        <p:spPr>
          <a:xfrm>
            <a:off x="457200" y="3611880"/>
            <a:ext cx="8229600" cy="9144"/>
          </a:xfrm>
          <a:prstGeom prst="rect">
            <a:avLst/>
          </a:prstGeom>
          <a:solidFill>
            <a:srgbClr val="E0E0E0"/>
          </a:solidFill>
          <a:ln/>
        </p:spPr>
      </p:sp>
      <p:sp>
        <p:nvSpPr>
          <p:cNvPr id="22" name="Text 20"/>
          <p:cNvSpPr/>
          <p:nvPr/>
        </p:nvSpPr>
        <p:spPr>
          <a:xfrm>
            <a:off x="457200" y="3657600"/>
            <a:ext cx="548640" cy="457200"/>
          </a:xfrm>
          <a:prstGeom prst="rect">
            <a:avLst/>
          </a:prstGeom>
          <a:noFill/>
          <a:ln/>
        </p:spPr>
        <p:txBody>
          <a:bodyPr wrap="square" rtlCol="0" anchor="ctr"/>
          <a:lstStyle/>
          <a:p>
            <a:pPr indent="0" marL="0">
              <a:buNone/>
            </a:pPr>
            <a:r>
              <a:rPr lang="en-US" sz="1800" b="1" dirty="0">
                <a:solidFill>
                  <a:srgbClr val="29BA74"/>
                </a:solidFill>
                <a:latin typeface="Century Gothic" pitchFamily="34" charset="0"/>
                <a:ea typeface="Century Gothic" pitchFamily="34" charset="-122"/>
                <a:cs typeface="Century Gothic" pitchFamily="34" charset="-120"/>
              </a:rPr>
              <a:t>05</a:t>
            </a:r>
            <a:endParaRPr lang="en-US" sz="1800" dirty="0"/>
          </a:p>
        </p:txBody>
      </p:sp>
      <p:sp>
        <p:nvSpPr>
          <p:cNvPr id="23" name="Text 21"/>
          <p:cNvSpPr/>
          <p:nvPr/>
        </p:nvSpPr>
        <p:spPr>
          <a:xfrm>
            <a:off x="1097280" y="3657600"/>
            <a:ext cx="3657600" cy="292608"/>
          </a:xfrm>
          <a:prstGeom prst="rect">
            <a:avLst/>
          </a:prstGeom>
          <a:noFill/>
          <a:ln/>
        </p:spPr>
        <p:txBody>
          <a:bodyPr wrap="square" rtlCol="0" anchor="ctr"/>
          <a:lstStyle/>
          <a:p>
            <a:pPr indent="0" marL="0">
              <a:buNone/>
            </a:pPr>
            <a:r>
              <a:rPr lang="en-US" sz="1300" b="1" dirty="0">
                <a:solidFill>
                  <a:srgbClr val="404040"/>
                </a:solidFill>
                <a:latin typeface="Meiryo UI" pitchFamily="34" charset="0"/>
                <a:ea typeface="Meiryo UI" pitchFamily="34" charset="-122"/>
                <a:cs typeface="Meiryo UI" pitchFamily="34" charset="-120"/>
              </a:rPr>
              <a:t>進め方・体制・スケジュール</a:t>
            </a:r>
            <a:endParaRPr lang="en-US" sz="1300" dirty="0"/>
          </a:p>
        </p:txBody>
      </p:sp>
      <p:sp>
        <p:nvSpPr>
          <p:cNvPr id="24" name="Text 22"/>
          <p:cNvSpPr/>
          <p:nvPr/>
        </p:nvSpPr>
        <p:spPr>
          <a:xfrm>
            <a:off x="1097280" y="3913632"/>
            <a:ext cx="7315200" cy="201168"/>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Phase 1の詳細工程（全8週）</a:t>
            </a:r>
            <a:endParaRPr lang="en-US" sz="1000" dirty="0"/>
          </a:p>
        </p:txBody>
      </p:sp>
      <p:sp>
        <p:nvSpPr>
          <p:cNvPr id="25" name="Shape 23"/>
          <p:cNvSpPr/>
          <p:nvPr/>
        </p:nvSpPr>
        <p:spPr>
          <a:xfrm>
            <a:off x="457200" y="4160520"/>
            <a:ext cx="8229600" cy="9144"/>
          </a:xfrm>
          <a:prstGeom prst="rect">
            <a:avLst/>
          </a:prstGeom>
          <a:solidFill>
            <a:srgbClr val="E0E0E0"/>
          </a:solidFill>
          <a:ln/>
        </p:spPr>
      </p:sp>
      <p:sp>
        <p:nvSpPr>
          <p:cNvPr id="26" name="Text 24"/>
          <p:cNvSpPr/>
          <p:nvPr/>
        </p:nvSpPr>
        <p:spPr>
          <a:xfrm>
            <a:off x="457200" y="4206240"/>
            <a:ext cx="548640" cy="457200"/>
          </a:xfrm>
          <a:prstGeom prst="rect">
            <a:avLst/>
          </a:prstGeom>
          <a:noFill/>
          <a:ln/>
        </p:spPr>
        <p:txBody>
          <a:bodyPr wrap="square" rtlCol="0" anchor="ctr"/>
          <a:lstStyle/>
          <a:p>
            <a:pPr indent="0" marL="0">
              <a:buNone/>
            </a:pPr>
            <a:r>
              <a:rPr lang="en-US" sz="1800" b="1" dirty="0">
                <a:solidFill>
                  <a:srgbClr val="29BA74"/>
                </a:solidFill>
                <a:latin typeface="Century Gothic" pitchFamily="34" charset="0"/>
                <a:ea typeface="Century Gothic" pitchFamily="34" charset="-122"/>
                <a:cs typeface="Century Gothic" pitchFamily="34" charset="-120"/>
              </a:rPr>
              <a:t>06</a:t>
            </a:r>
            <a:endParaRPr lang="en-US" sz="1800" dirty="0"/>
          </a:p>
        </p:txBody>
      </p:sp>
      <p:sp>
        <p:nvSpPr>
          <p:cNvPr id="27" name="Text 25"/>
          <p:cNvSpPr/>
          <p:nvPr/>
        </p:nvSpPr>
        <p:spPr>
          <a:xfrm>
            <a:off x="1097280" y="4206240"/>
            <a:ext cx="3657600" cy="292608"/>
          </a:xfrm>
          <a:prstGeom prst="rect">
            <a:avLst/>
          </a:prstGeom>
          <a:noFill/>
          <a:ln/>
        </p:spPr>
        <p:txBody>
          <a:bodyPr wrap="square" rtlCol="0" anchor="ctr"/>
          <a:lstStyle/>
          <a:p>
            <a:pPr indent="0" marL="0">
              <a:buNone/>
            </a:pPr>
            <a:r>
              <a:rPr lang="en-US" sz="1300" b="1" dirty="0">
                <a:solidFill>
                  <a:srgbClr val="404040"/>
                </a:solidFill>
                <a:latin typeface="Meiryo UI" pitchFamily="34" charset="0"/>
                <a:ea typeface="Meiryo UI" pitchFamily="34" charset="-122"/>
                <a:cs typeface="Meiryo UI" pitchFamily="34" charset="-120"/>
              </a:rPr>
              <a:t>成果物・お見積もり</a:t>
            </a:r>
            <a:endParaRPr lang="en-US" sz="1300" dirty="0"/>
          </a:p>
        </p:txBody>
      </p:sp>
      <p:sp>
        <p:nvSpPr>
          <p:cNvPr id="28" name="Text 26"/>
          <p:cNvSpPr/>
          <p:nvPr/>
        </p:nvSpPr>
        <p:spPr>
          <a:xfrm>
            <a:off x="1097280" y="4462272"/>
            <a:ext cx="7315200" cy="201168"/>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成果物一覧と費用</a:t>
            </a:r>
            <a:endParaRPr lang="en-US" sz="1000" dirty="0"/>
          </a:p>
        </p:txBody>
      </p:sp>
      <p:sp>
        <p:nvSpPr>
          <p:cNvPr id="29" name="Text 27"/>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30" name="Text 28"/>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371600"/>
            <a:ext cx="914400" cy="457200"/>
          </a:xfrm>
          <a:prstGeom prst="rect">
            <a:avLst/>
          </a:prstGeom>
          <a:noFill/>
          <a:ln/>
        </p:spPr>
        <p:txBody>
          <a:bodyPr wrap="square" rtlCol="0" anchor="ctr"/>
          <a:lstStyle/>
          <a:p>
            <a:pPr indent="0" marL="0">
              <a:buNone/>
            </a:pPr>
            <a:r>
              <a:rPr lang="en-US" sz="3200" b="1" dirty="0">
                <a:solidFill>
                  <a:srgbClr val="29BA74"/>
                </a:solidFill>
                <a:latin typeface="Century Gothic" pitchFamily="34" charset="0"/>
                <a:ea typeface="Century Gothic" pitchFamily="34" charset="-122"/>
                <a:cs typeface="Century Gothic" pitchFamily="34" charset="-120"/>
              </a:rPr>
              <a:t>01</a:t>
            </a:r>
            <a:endParaRPr lang="en-US" sz="3200" dirty="0"/>
          </a:p>
        </p:txBody>
      </p:sp>
      <p:sp>
        <p:nvSpPr>
          <p:cNvPr id="3" name="Text 1"/>
          <p:cNvSpPr/>
          <p:nvPr/>
        </p:nvSpPr>
        <p:spPr>
          <a:xfrm>
            <a:off x="457200" y="1920240"/>
            <a:ext cx="8229600" cy="731520"/>
          </a:xfrm>
          <a:prstGeom prst="rect">
            <a:avLst/>
          </a:prstGeom>
          <a:noFill/>
          <a:ln/>
        </p:spPr>
        <p:txBody>
          <a:bodyPr wrap="square" rtlCol="0" anchor="ctr"/>
          <a:lstStyle/>
          <a:p>
            <a:pPr indent="0" marL="0">
              <a:buNone/>
            </a:pPr>
            <a:r>
              <a:rPr lang="en-US" sz="2800" dirty="0">
                <a:solidFill>
                  <a:srgbClr val="FFFFFF"/>
                </a:solidFill>
                <a:latin typeface="Meiryo UI" pitchFamily="34" charset="0"/>
                <a:ea typeface="Meiryo UI" pitchFamily="34" charset="-122"/>
                <a:cs typeface="Meiryo UI" pitchFamily="34" charset="-120"/>
              </a:rPr>
              <a:t>本提案の最重要ポイント</a:t>
            </a:r>
            <a:endParaRPr lang="en-US" sz="2800" dirty="0"/>
          </a:p>
        </p:txBody>
      </p:sp>
      <p:sp>
        <p:nvSpPr>
          <p:cNvPr id="4" name="Text 2"/>
          <p:cNvSpPr/>
          <p:nvPr/>
        </p:nvSpPr>
        <p:spPr>
          <a:xfrm>
            <a:off x="457200" y="2743200"/>
            <a:ext cx="8229600" cy="457200"/>
          </a:xfrm>
          <a:prstGeom prst="rect">
            <a:avLst/>
          </a:prstGeom>
          <a:noFill/>
          <a:ln/>
        </p:spPr>
        <p:txBody>
          <a:bodyPr wrap="square" rtlCol="0" anchor="ctr"/>
          <a:lstStyle/>
          <a:p>
            <a:pPr indent="0" marL="0">
              <a:buNone/>
            </a:pPr>
            <a:r>
              <a:rPr lang="en-US" sz="1400" dirty="0">
                <a:solidFill>
                  <a:srgbClr val="FFFFFF"/>
                </a:solidFill>
                <a:latin typeface="Meiryo UI" pitchFamily="34" charset="0"/>
                <a:ea typeface="Meiryo UI" pitchFamily="34" charset="-122"/>
                <a:cs typeface="Meiryo UI" pitchFamily="34" charset="-120"/>
              </a:rPr>
              <a:t>すべての施策は「顧客の録音許諾取得」が前提となります。</a:t>
            </a:r>
            <a:endParaRPr lang="en-US" sz="1400" dirty="0"/>
          </a:p>
        </p:txBody>
      </p:sp>
      <p:sp>
        <p:nvSpPr>
          <p:cNvPr id="5" name="Shape 3"/>
          <p:cNvSpPr/>
          <p:nvPr/>
        </p:nvSpPr>
        <p:spPr>
          <a:xfrm>
            <a:off x="457200" y="3291840"/>
            <a:ext cx="2743200" cy="18288"/>
          </a:xfrm>
          <a:prstGeom prst="rect">
            <a:avLst/>
          </a:prstGeom>
          <a:solidFill>
            <a:srgbClr val="FFFFFF">
              <a:alpha val="50000"/>
            </a:srgbClr>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01 本提案の最重要ポイント</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Meiryo UI" pitchFamily="34" charset="0"/>
                <a:ea typeface="Meiryo UI" pitchFamily="34" charset="-122"/>
                <a:cs typeface="Meiryo UI" pitchFamily="34" charset="-120"/>
              </a:rPr>
              <a:t>なぜ録音許諾が最重要なのか</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本</a:t>
            </a:r>
            <a:pPr indent="0" marL="0">
              <a:buNone/>
            </a:pPr>
            <a:r>
              <a:rPr lang="en-US" sz="1400" dirty="0">
                <a:solidFill>
                  <a:srgbClr val="404040"/>
                </a:solidFill>
                <a:latin typeface="Century Gothic" pitchFamily="34" charset="0"/>
                <a:ea typeface="Century Gothic" pitchFamily="34" charset="-122"/>
                <a:cs typeface="Century Gothic" pitchFamily="34" charset="-120"/>
              </a:rPr>
              <a:t>PoC</a:t>
            </a:r>
            <a:pPr indent="0" marL="0">
              <a:buNone/>
            </a:pPr>
            <a:r>
              <a:rPr lang="en-US" sz="1400" dirty="0">
                <a:solidFill>
                  <a:srgbClr val="404040"/>
                </a:solidFill>
                <a:latin typeface="Meiryo UI" pitchFamily="34" charset="0"/>
                <a:ea typeface="Meiryo UI" pitchFamily="34" charset="-122"/>
                <a:cs typeface="Meiryo UI" pitchFamily="34" charset="-120"/>
              </a:rPr>
              <a:t>の目的は「何があれば顧客は録音を許可してくれるのか」を検証することである。</a:t>
            </a:r>
            <a:endParaRPr lang="en-US" sz="1400" dirty="0"/>
          </a:p>
        </p:txBody>
      </p:sp>
      <p:sp>
        <p:nvSpPr>
          <p:cNvPr id="6" name="Shape 4"/>
          <p:cNvSpPr/>
          <p:nvPr/>
        </p:nvSpPr>
        <p:spPr>
          <a:xfrm>
            <a:off x="457200" y="1463040"/>
            <a:ext cx="3931920" cy="2286000"/>
          </a:xfrm>
          <a:prstGeom prst="rect">
            <a:avLst/>
          </a:prstGeom>
          <a:solidFill>
            <a:srgbClr val="F5F5F5"/>
          </a:solidFill>
          <a:ln/>
        </p:spPr>
      </p:sp>
      <p:sp>
        <p:nvSpPr>
          <p:cNvPr id="7" name="Text 5"/>
          <p:cNvSpPr/>
          <p:nvPr/>
        </p:nvSpPr>
        <p:spPr>
          <a:xfrm>
            <a:off x="594360" y="1554480"/>
            <a:ext cx="3657600" cy="320040"/>
          </a:xfrm>
          <a:prstGeom prst="rect">
            <a:avLst/>
          </a:prstGeom>
          <a:noFill/>
          <a:ln/>
        </p:spPr>
        <p:txBody>
          <a:bodyPr wrap="square" rtlCol="0" anchor="ctr"/>
          <a:lstStyle/>
          <a:p>
            <a:pPr indent="0" marL="0">
              <a:buNone/>
            </a:pPr>
            <a:r>
              <a:rPr lang="en-US" sz="1200" b="1" dirty="0">
                <a:solidFill>
                  <a:srgbClr val="404040"/>
                </a:solidFill>
                <a:latin typeface="Meiryo UI" pitchFamily="34" charset="0"/>
                <a:ea typeface="Meiryo UI" pitchFamily="34" charset="-122"/>
                <a:cs typeface="Meiryo UI" pitchFamily="34" charset="-120"/>
              </a:rPr>
              <a:t>録音許諾がなければ…</a:t>
            </a:r>
            <a:endParaRPr lang="en-US" sz="1200" dirty="0"/>
          </a:p>
        </p:txBody>
      </p:sp>
      <p:sp>
        <p:nvSpPr>
          <p:cNvPr id="8" name="Text 6"/>
          <p:cNvSpPr/>
          <p:nvPr/>
        </p:nvSpPr>
        <p:spPr>
          <a:xfrm>
            <a:off x="594360" y="1965960"/>
            <a:ext cx="3657600" cy="365760"/>
          </a:xfrm>
          <a:prstGeom prst="rect">
            <a:avLst/>
          </a:prstGeom>
          <a:noFill/>
          <a:ln/>
        </p:spPr>
        <p:txBody>
          <a:bodyPr wrap="square" rtlCol="0" anchor="ctr"/>
          <a:lstStyle/>
          <a:p>
            <a:pPr indent="0" marL="0">
              <a:buNone/>
            </a:pPr>
            <a:r>
              <a:rPr lang="en-US" sz="1100" dirty="0">
                <a:solidFill>
                  <a:srgbClr val="A6A6A6"/>
                </a:solidFill>
                <a:latin typeface="Meiryo UI" pitchFamily="34" charset="0"/>
                <a:ea typeface="Meiryo UI" pitchFamily="34" charset="-122"/>
                <a:cs typeface="Meiryo UI" pitchFamily="34" charset="-120"/>
              </a:rPr>
              <a:t>✗  面談の可視化が実現不可能</a:t>
            </a:r>
            <a:endParaRPr lang="en-US" sz="1100" dirty="0"/>
          </a:p>
        </p:txBody>
      </p:sp>
      <p:sp>
        <p:nvSpPr>
          <p:cNvPr id="9" name="Text 7"/>
          <p:cNvSpPr/>
          <p:nvPr/>
        </p:nvSpPr>
        <p:spPr>
          <a:xfrm>
            <a:off x="594360" y="2377440"/>
            <a:ext cx="3657600" cy="365760"/>
          </a:xfrm>
          <a:prstGeom prst="rect">
            <a:avLst/>
          </a:prstGeom>
          <a:noFill/>
          <a:ln/>
        </p:spPr>
        <p:txBody>
          <a:bodyPr wrap="square" rtlCol="0" anchor="ctr"/>
          <a:lstStyle/>
          <a:p>
            <a:pPr indent="0" marL="0">
              <a:buNone/>
            </a:pPr>
            <a:r>
              <a:rPr lang="en-US" sz="1100" dirty="0">
                <a:solidFill>
                  <a:srgbClr val="A6A6A6"/>
                </a:solidFill>
                <a:latin typeface="Meiryo UI" pitchFamily="34" charset="0"/>
                <a:ea typeface="Meiryo UI" pitchFamily="34" charset="-122"/>
                <a:cs typeface="Meiryo UI" pitchFamily="34" charset="-120"/>
              </a:rPr>
              <a:t>✗  アドバイザー向け指導ができない</a:t>
            </a:r>
            <a:endParaRPr lang="en-US" sz="1100" dirty="0"/>
          </a:p>
        </p:txBody>
      </p:sp>
      <p:sp>
        <p:nvSpPr>
          <p:cNvPr id="10" name="Text 8"/>
          <p:cNvSpPr/>
          <p:nvPr/>
        </p:nvSpPr>
        <p:spPr>
          <a:xfrm>
            <a:off x="594360" y="2788920"/>
            <a:ext cx="3657600" cy="365760"/>
          </a:xfrm>
          <a:prstGeom prst="rect">
            <a:avLst/>
          </a:prstGeom>
          <a:noFill/>
          <a:ln/>
        </p:spPr>
        <p:txBody>
          <a:bodyPr wrap="square" rtlCol="0" anchor="ctr"/>
          <a:lstStyle/>
          <a:p>
            <a:pPr indent="0" marL="0">
              <a:buNone/>
            </a:pPr>
            <a:r>
              <a:rPr lang="en-US" sz="1100" dirty="0">
                <a:solidFill>
                  <a:srgbClr val="A6A6A6"/>
                </a:solidFill>
                <a:latin typeface="Meiryo UI" pitchFamily="34" charset="0"/>
                <a:ea typeface="Meiryo UI" pitchFamily="34" charset="-122"/>
                <a:cs typeface="Meiryo UI" pitchFamily="34" charset="-120"/>
              </a:rPr>
              <a:t>✗  データ蓄積・分析ができない</a:t>
            </a:r>
            <a:endParaRPr lang="en-US" sz="1100" dirty="0"/>
          </a:p>
        </p:txBody>
      </p:sp>
      <p:sp>
        <p:nvSpPr>
          <p:cNvPr id="11" name="Shape 9"/>
          <p:cNvSpPr/>
          <p:nvPr/>
        </p:nvSpPr>
        <p:spPr>
          <a:xfrm>
            <a:off x="4754880" y="1463040"/>
            <a:ext cx="3931920" cy="2286000"/>
          </a:xfrm>
          <a:prstGeom prst="rect">
            <a:avLst/>
          </a:prstGeom>
          <a:solidFill>
            <a:srgbClr val="E8F5F0"/>
          </a:solidFill>
          <a:ln w="25400">
            <a:solidFill>
              <a:srgbClr val="29BA74"/>
            </a:solidFill>
            <a:prstDash val="solid"/>
          </a:ln>
        </p:spPr>
      </p:sp>
      <p:sp>
        <p:nvSpPr>
          <p:cNvPr id="12" name="Text 10"/>
          <p:cNvSpPr/>
          <p:nvPr/>
        </p:nvSpPr>
        <p:spPr>
          <a:xfrm>
            <a:off x="4892040" y="1554480"/>
            <a:ext cx="3657600" cy="320040"/>
          </a:xfrm>
          <a:prstGeom prst="rect">
            <a:avLst/>
          </a:prstGeom>
          <a:noFill/>
          <a:ln/>
        </p:spPr>
        <p:txBody>
          <a:bodyPr wrap="square" rtlCol="0" anchor="ctr"/>
          <a:lstStyle/>
          <a:p>
            <a:pPr indent="0" marL="0">
              <a:buNone/>
            </a:pPr>
            <a:r>
              <a:rPr lang="en-US" sz="1200" b="1" dirty="0">
                <a:solidFill>
                  <a:srgbClr val="29BA74"/>
                </a:solidFill>
                <a:latin typeface="Meiryo UI" pitchFamily="34" charset="0"/>
                <a:ea typeface="Meiryo UI" pitchFamily="34" charset="-122"/>
                <a:cs typeface="Meiryo UI" pitchFamily="34" charset="-120"/>
              </a:rPr>
              <a:t>顧客メリットの柱</a:t>
            </a:r>
            <a:endParaRPr lang="en-US" sz="1200" dirty="0"/>
          </a:p>
        </p:txBody>
      </p:sp>
      <p:sp>
        <p:nvSpPr>
          <p:cNvPr id="13" name="Text 11"/>
          <p:cNvSpPr/>
          <p:nvPr/>
        </p:nvSpPr>
        <p:spPr>
          <a:xfrm>
            <a:off x="4892040" y="1965960"/>
            <a:ext cx="3657600" cy="457200"/>
          </a:xfrm>
          <a:prstGeom prst="rect">
            <a:avLst/>
          </a:prstGeom>
          <a:noFill/>
          <a:ln/>
        </p:spPr>
        <p:txBody>
          <a:bodyPr wrap="square" rtlCol="0" anchor="ctr"/>
          <a:lstStyle/>
          <a:p>
            <a:pPr indent="0" marL="0">
              <a:buNone/>
            </a:pPr>
            <a:r>
              <a:rPr lang="en-US" sz="1600" b="1" dirty="0">
                <a:solidFill>
                  <a:srgbClr val="404040"/>
                </a:solidFill>
                <a:latin typeface="Meiryo UI" pitchFamily="34" charset="0"/>
                <a:ea typeface="Meiryo UI" pitchFamily="34" charset="-122"/>
                <a:cs typeface="Meiryo UI" pitchFamily="34" charset="-120"/>
              </a:rPr>
              <a:t>面談レポートの提供</a:t>
            </a:r>
            <a:endParaRPr lang="en-US" sz="1600" dirty="0"/>
          </a:p>
        </p:txBody>
      </p:sp>
      <p:sp>
        <p:nvSpPr>
          <p:cNvPr id="14" name="Text 12"/>
          <p:cNvSpPr/>
          <p:nvPr/>
        </p:nvSpPr>
        <p:spPr>
          <a:xfrm>
            <a:off x="4892040" y="2468880"/>
            <a:ext cx="3657600" cy="109728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・面談内容を整理して提供</a:t>
            </a:r>
            <a:endParaRPr lang="en-US" sz="1000" dirty="0"/>
          </a:p>
          <a:p>
            <a:pPr indent="0" marL="0">
              <a:buNone/>
            </a:pPr>
            <a:r>
              <a:rPr lang="en-US" sz="1000" dirty="0">
                <a:solidFill>
                  <a:srgbClr val="404040"/>
                </a:solidFill>
                <a:latin typeface="Meiryo UI" pitchFamily="34" charset="0"/>
                <a:ea typeface="Meiryo UI" pitchFamily="34" charset="-122"/>
                <a:cs typeface="Meiryo UI" pitchFamily="34" charset="-120"/>
              </a:rPr>
              <a:t>・次のアクションを明確化</a:t>
            </a:r>
            <a:endParaRPr lang="en-US" sz="1000" dirty="0"/>
          </a:p>
          <a:p>
            <a:pPr indent="0" marL="0">
              <a:buNone/>
            </a:pPr>
            <a:r>
              <a:rPr lang="en-US" sz="1000" dirty="0">
                <a:solidFill>
                  <a:srgbClr val="404040"/>
                </a:solidFill>
                <a:latin typeface="Meiryo UI" pitchFamily="34" charset="0"/>
                <a:ea typeface="Meiryo UI" pitchFamily="34" charset="-122"/>
                <a:cs typeface="Meiryo UI" pitchFamily="34" charset="-120"/>
              </a:rPr>
              <a:t>・振り返りの材料として活用</a:t>
            </a:r>
            <a:endParaRPr lang="en-US" sz="1000" dirty="0"/>
          </a:p>
        </p:txBody>
      </p:sp>
      <p:sp>
        <p:nvSpPr>
          <p:cNvPr id="15" name="Shape 13"/>
          <p:cNvSpPr/>
          <p:nvPr/>
        </p:nvSpPr>
        <p:spPr>
          <a:xfrm>
            <a:off x="457200" y="3886200"/>
            <a:ext cx="8229600" cy="548640"/>
          </a:xfrm>
          <a:prstGeom prst="rect">
            <a:avLst/>
          </a:prstGeom>
          <a:solidFill>
            <a:srgbClr val="1B3928"/>
          </a:solidFill>
          <a:ln/>
        </p:spPr>
      </p:sp>
      <p:sp>
        <p:nvSpPr>
          <p:cNvPr id="16" name="Text 14"/>
          <p:cNvSpPr/>
          <p:nvPr/>
        </p:nvSpPr>
        <p:spPr>
          <a:xfrm>
            <a:off x="457200" y="3886200"/>
            <a:ext cx="8229600" cy="548640"/>
          </a:xfrm>
          <a:prstGeom prst="rect">
            <a:avLst/>
          </a:prstGeom>
          <a:noFill/>
          <a:ln/>
        </p:spPr>
        <p:txBody>
          <a:bodyPr wrap="square" rtlCol="0" anchor="ctr"/>
          <a:lstStyle/>
          <a:p>
            <a:pPr algn="ctr" indent="0" marL="0">
              <a:buNone/>
            </a:pPr>
            <a:r>
              <a:rPr lang="en-US" sz="1300" dirty="0">
                <a:solidFill>
                  <a:srgbClr val="FFFFFF"/>
                </a:solidFill>
                <a:latin typeface="Meiryo UI" pitchFamily="34" charset="0"/>
                <a:ea typeface="Meiryo UI" pitchFamily="34" charset="-122"/>
                <a:cs typeface="Meiryo UI" pitchFamily="34" charset="-120"/>
              </a:rPr>
              <a:t>顧客向けレポートの設計が、全ての施策の前提条件となります。</a:t>
            </a:r>
            <a:endParaRPr lang="en-US" sz="1300" dirty="0"/>
          </a:p>
        </p:txBody>
      </p:sp>
      <p:sp>
        <p:nvSpPr>
          <p:cNvPr id="17" name="Text 15"/>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18" name="Text 16"/>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371600"/>
            <a:ext cx="914400" cy="457200"/>
          </a:xfrm>
          <a:prstGeom prst="rect">
            <a:avLst/>
          </a:prstGeom>
          <a:noFill/>
          <a:ln/>
        </p:spPr>
        <p:txBody>
          <a:bodyPr wrap="square" rtlCol="0" anchor="ctr"/>
          <a:lstStyle/>
          <a:p>
            <a:pPr indent="0" marL="0">
              <a:buNone/>
            </a:pPr>
            <a:r>
              <a:rPr lang="en-US" sz="3200" b="1" dirty="0">
                <a:solidFill>
                  <a:srgbClr val="29BA74"/>
                </a:solidFill>
                <a:latin typeface="Century Gothic" pitchFamily="34" charset="0"/>
                <a:ea typeface="Century Gothic" pitchFamily="34" charset="-122"/>
                <a:cs typeface="Century Gothic" pitchFamily="34" charset="-120"/>
              </a:rPr>
              <a:t>02</a:t>
            </a:r>
            <a:endParaRPr lang="en-US" sz="3200" dirty="0"/>
          </a:p>
        </p:txBody>
      </p:sp>
      <p:sp>
        <p:nvSpPr>
          <p:cNvPr id="3" name="Text 1"/>
          <p:cNvSpPr/>
          <p:nvPr/>
        </p:nvSpPr>
        <p:spPr>
          <a:xfrm>
            <a:off x="457200" y="1920240"/>
            <a:ext cx="8229600" cy="731520"/>
          </a:xfrm>
          <a:prstGeom prst="rect">
            <a:avLst/>
          </a:prstGeom>
          <a:noFill/>
          <a:ln/>
        </p:spPr>
        <p:txBody>
          <a:bodyPr wrap="square" rtlCol="0" anchor="ctr"/>
          <a:lstStyle/>
          <a:p>
            <a:pPr indent="0" marL="0">
              <a:buNone/>
            </a:pPr>
            <a:r>
              <a:rPr lang="en-US" sz="2800" dirty="0">
                <a:solidFill>
                  <a:srgbClr val="FFFFFF"/>
                </a:solidFill>
                <a:latin typeface="Meiryo UI" pitchFamily="34" charset="0"/>
                <a:ea typeface="Meiryo UI" pitchFamily="34" charset="-122"/>
                <a:cs typeface="Meiryo UI" pitchFamily="34" charset="-120"/>
              </a:rPr>
              <a:t>運用ワークフロー全体像</a:t>
            </a:r>
            <a:endParaRPr lang="en-US" sz="2800" dirty="0"/>
          </a:p>
        </p:txBody>
      </p:sp>
      <p:sp>
        <p:nvSpPr>
          <p:cNvPr id="4" name="Text 2"/>
          <p:cNvSpPr/>
          <p:nvPr/>
        </p:nvSpPr>
        <p:spPr>
          <a:xfrm>
            <a:off x="457200" y="2743200"/>
            <a:ext cx="8229600" cy="457200"/>
          </a:xfrm>
          <a:prstGeom prst="rect">
            <a:avLst/>
          </a:prstGeom>
          <a:noFill/>
          <a:ln/>
        </p:spPr>
        <p:txBody>
          <a:bodyPr wrap="square" rtlCol="0" anchor="ctr"/>
          <a:lstStyle/>
          <a:p>
            <a:pPr indent="0" marL="0">
              <a:buNone/>
            </a:pPr>
            <a:r>
              <a:rPr lang="en-US" sz="1400" dirty="0">
                <a:solidFill>
                  <a:srgbClr val="FFFFFF"/>
                </a:solidFill>
                <a:latin typeface="Meiryo UI" pitchFamily="34" charset="0"/>
                <a:ea typeface="Meiryo UI" pitchFamily="34" charset="-122"/>
                <a:cs typeface="Meiryo UI" pitchFamily="34" charset="-120"/>
              </a:rPr>
              <a:t>面談前→面談中→バックヤード相談→面談後の4フェーズで構成されます。</a:t>
            </a:r>
            <a:endParaRPr lang="en-US" sz="1400" dirty="0"/>
          </a:p>
        </p:txBody>
      </p:sp>
      <p:sp>
        <p:nvSpPr>
          <p:cNvPr id="5" name="Shape 3"/>
          <p:cNvSpPr/>
          <p:nvPr/>
        </p:nvSpPr>
        <p:spPr>
          <a:xfrm>
            <a:off x="457200" y="3291840"/>
            <a:ext cx="2743200" cy="18288"/>
          </a:xfrm>
          <a:prstGeom prst="rect">
            <a:avLst/>
          </a:prstGeom>
          <a:solidFill>
            <a:srgbClr val="FFFFFF">
              <a:alpha val="50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02 運用ワークフロー全体像</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Century Gothic" pitchFamily="34" charset="0"/>
                <a:ea typeface="Century Gothic" pitchFamily="34" charset="-122"/>
                <a:cs typeface="Century Gothic" pitchFamily="34" charset="-120"/>
              </a:rPr>
              <a:t>4</a:t>
            </a:r>
            <a:pPr indent="0" marL="0">
              <a:buNone/>
            </a:pPr>
            <a:r>
              <a:rPr lang="en-US" sz="2000" dirty="0">
                <a:solidFill>
                  <a:srgbClr val="404040"/>
                </a:solidFill>
                <a:latin typeface="Meiryo UI" pitchFamily="34" charset="0"/>
                <a:ea typeface="Meiryo UI" pitchFamily="34" charset="-122"/>
                <a:cs typeface="Meiryo UI" pitchFamily="34" charset="-120"/>
              </a:rPr>
              <a:t>フェーズで構成されるワークフロー</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各フェーズで</a:t>
            </a:r>
            <a:pPr indent="0" marL="0">
              <a:buNone/>
            </a:pPr>
            <a:r>
              <a:rPr lang="en-US" sz="1400" dirty="0">
                <a:solidFill>
                  <a:srgbClr val="404040"/>
                </a:solidFill>
                <a:latin typeface="Century Gothic" pitchFamily="34" charset="0"/>
                <a:ea typeface="Century Gothic" pitchFamily="34" charset="-122"/>
                <a:cs typeface="Century Gothic" pitchFamily="34" charset="-120"/>
              </a:rPr>
              <a:t>AI</a:t>
            </a:r>
            <a:pPr indent="0" marL="0">
              <a:buNone/>
            </a:pPr>
            <a:r>
              <a:rPr lang="en-US" sz="1400" dirty="0">
                <a:solidFill>
                  <a:srgbClr val="404040"/>
                </a:solidFill>
                <a:latin typeface="Meiryo UI" pitchFamily="34" charset="0"/>
                <a:ea typeface="Meiryo UI" pitchFamily="34" charset="-122"/>
                <a:cs typeface="Meiryo UI" pitchFamily="34" charset="-120"/>
              </a:rPr>
              <a:t>が支援することで、アドバイザーは会話に集中できる環境を実現する。</a:t>
            </a:r>
            <a:endParaRPr lang="en-US" sz="1400" dirty="0"/>
          </a:p>
        </p:txBody>
      </p:sp>
      <p:sp>
        <p:nvSpPr>
          <p:cNvPr id="6" name="Shape 4"/>
          <p:cNvSpPr/>
          <p:nvPr/>
        </p:nvSpPr>
        <p:spPr>
          <a:xfrm>
            <a:off x="457200" y="1417320"/>
            <a:ext cx="1965960" cy="292608"/>
          </a:xfrm>
          <a:prstGeom prst="rect">
            <a:avLst/>
          </a:prstGeom>
          <a:solidFill>
            <a:srgbClr val="29BA74"/>
          </a:solidFill>
          <a:ln/>
        </p:spPr>
      </p:sp>
      <p:sp>
        <p:nvSpPr>
          <p:cNvPr id="7" name="Text 5"/>
          <p:cNvSpPr/>
          <p:nvPr/>
        </p:nvSpPr>
        <p:spPr>
          <a:xfrm>
            <a:off x="457200" y="1417320"/>
            <a:ext cx="1965960"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Step 1</a:t>
            </a:r>
            <a:endParaRPr lang="en-US" sz="1000" dirty="0"/>
          </a:p>
        </p:txBody>
      </p:sp>
      <p:sp>
        <p:nvSpPr>
          <p:cNvPr id="8" name="Shape 6"/>
          <p:cNvSpPr/>
          <p:nvPr/>
        </p:nvSpPr>
        <p:spPr>
          <a:xfrm>
            <a:off x="457200" y="1709928"/>
            <a:ext cx="1965960" cy="457200"/>
          </a:xfrm>
          <a:prstGeom prst="rect">
            <a:avLst/>
          </a:prstGeom>
          <a:solidFill>
            <a:srgbClr val="1B3928"/>
          </a:solidFill>
          <a:ln/>
        </p:spPr>
      </p:sp>
      <p:sp>
        <p:nvSpPr>
          <p:cNvPr id="9" name="Text 7"/>
          <p:cNvSpPr/>
          <p:nvPr/>
        </p:nvSpPr>
        <p:spPr>
          <a:xfrm>
            <a:off x="457200" y="1709928"/>
            <a:ext cx="1965960" cy="457200"/>
          </a:xfrm>
          <a:prstGeom prst="rect">
            <a:avLst/>
          </a:prstGeom>
          <a:noFill/>
          <a:ln/>
        </p:spPr>
        <p:txBody>
          <a:bodyPr wrap="square"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面談前</a:t>
            </a:r>
            <a:endParaRPr lang="en-US" sz="1000" dirty="0"/>
          </a:p>
        </p:txBody>
      </p:sp>
      <p:sp>
        <p:nvSpPr>
          <p:cNvPr id="10" name="Shape 8"/>
          <p:cNvSpPr/>
          <p:nvPr/>
        </p:nvSpPr>
        <p:spPr>
          <a:xfrm>
            <a:off x="457200" y="2167128"/>
            <a:ext cx="1965960" cy="1234440"/>
          </a:xfrm>
          <a:prstGeom prst="rect">
            <a:avLst/>
          </a:prstGeom>
          <a:solidFill>
            <a:srgbClr val="F5F5F5"/>
          </a:solidFill>
          <a:ln/>
        </p:spPr>
      </p:sp>
      <p:sp>
        <p:nvSpPr>
          <p:cNvPr id="11" name="Text 9"/>
          <p:cNvSpPr/>
          <p:nvPr/>
        </p:nvSpPr>
        <p:spPr>
          <a:xfrm>
            <a:off x="530352" y="2212848"/>
            <a:ext cx="1819656" cy="1143000"/>
          </a:xfrm>
          <a:prstGeom prst="rect">
            <a:avLst/>
          </a:prstGeom>
          <a:noFill/>
          <a:ln/>
        </p:spPr>
        <p:txBody>
          <a:bodyPr wrap="square" rtlCol="0" anchor="t"/>
          <a:lstStyle/>
          <a:p>
            <a:pPr indent="0" marL="0">
              <a:buNone/>
            </a:pPr>
            <a:r>
              <a:rPr lang="en-US" sz="900" dirty="0">
                <a:solidFill>
                  <a:srgbClr val="404040"/>
                </a:solidFill>
                <a:latin typeface="Meiryo UI" pitchFamily="34" charset="0"/>
                <a:ea typeface="Meiryo UI" pitchFamily="34" charset="-122"/>
                <a:cs typeface="Meiryo UI" pitchFamily="34" charset="-120"/>
              </a:rPr>
              <a:t>・会員DB確認</a:t>
            </a:r>
            <a:endParaRPr lang="en-US" sz="900" dirty="0"/>
          </a:p>
          <a:p>
            <a:pPr indent="0" marL="0">
              <a:buNone/>
            </a:pPr>
            <a:r>
              <a:rPr lang="en-US" sz="900" dirty="0">
                <a:solidFill>
                  <a:srgbClr val="404040"/>
                </a:solidFill>
                <a:latin typeface="Meiryo UI" pitchFamily="34" charset="0"/>
                <a:ea typeface="Meiryo UI" pitchFamily="34" charset="-122"/>
                <a:cs typeface="Meiryo UI" pitchFamily="34" charset="-120"/>
              </a:rPr>
              <a:t>・セッションページ作成</a:t>
            </a:r>
            <a:endParaRPr lang="en-US" sz="900" dirty="0"/>
          </a:p>
          <a:p>
            <a:pPr indent="0" marL="0">
              <a:buNone/>
            </a:pPr>
            <a:r>
              <a:rPr lang="en-US" sz="900" dirty="0">
                <a:solidFill>
                  <a:srgbClr val="404040"/>
                </a:solidFill>
                <a:latin typeface="Meiryo UI" pitchFamily="34" charset="0"/>
                <a:ea typeface="Meiryo UI" pitchFamily="34" charset="-122"/>
                <a:cs typeface="Meiryo UI" pitchFamily="34" charset="-120"/>
              </a:rPr>
              <a:t>・録音同意チェック準備</a:t>
            </a:r>
            <a:endParaRPr lang="en-US" sz="900" dirty="0"/>
          </a:p>
        </p:txBody>
      </p:sp>
      <p:sp>
        <p:nvSpPr>
          <p:cNvPr id="12" name="Text 10"/>
          <p:cNvSpPr/>
          <p:nvPr/>
        </p:nvSpPr>
        <p:spPr>
          <a:xfrm>
            <a:off x="457200" y="3474720"/>
            <a:ext cx="1965960" cy="201168"/>
          </a:xfrm>
          <a:prstGeom prst="rect">
            <a:avLst/>
          </a:prstGeom>
          <a:noFill/>
          <a:ln/>
        </p:spPr>
        <p:txBody>
          <a:bodyPr wrap="square" rtlCol="0" anchor="ctr"/>
          <a:lstStyle/>
          <a:p>
            <a:pPr algn="ctr" indent="0" marL="0">
              <a:buNone/>
            </a:pPr>
            <a:r>
              <a:rPr lang="en-US" sz="800" dirty="0">
                <a:solidFill>
                  <a:srgbClr val="A6A6A6"/>
                </a:solidFill>
                <a:latin typeface="Meiryo UI" pitchFamily="34" charset="0"/>
                <a:ea typeface="Meiryo UI" pitchFamily="34" charset="-122"/>
                <a:cs typeface="Meiryo UI" pitchFamily="34" charset="-120"/>
              </a:rPr>
              <a:t>提供価値</a:t>
            </a:r>
            <a:endParaRPr lang="en-US" sz="800" dirty="0"/>
          </a:p>
        </p:txBody>
      </p:sp>
      <p:sp>
        <p:nvSpPr>
          <p:cNvPr id="13" name="Shape 11"/>
          <p:cNvSpPr/>
          <p:nvPr/>
        </p:nvSpPr>
        <p:spPr>
          <a:xfrm>
            <a:off x="457200" y="3675888"/>
            <a:ext cx="1965960" cy="685800"/>
          </a:xfrm>
          <a:prstGeom prst="rect">
            <a:avLst/>
          </a:prstGeom>
          <a:solidFill>
            <a:srgbClr val="E8F5F0"/>
          </a:solidFill>
          <a:ln/>
        </p:spPr>
      </p:sp>
      <p:sp>
        <p:nvSpPr>
          <p:cNvPr id="14" name="Text 12"/>
          <p:cNvSpPr/>
          <p:nvPr/>
        </p:nvSpPr>
        <p:spPr>
          <a:xfrm>
            <a:off x="530352" y="3703320"/>
            <a:ext cx="1819656" cy="640080"/>
          </a:xfrm>
          <a:prstGeom prst="rect">
            <a:avLst/>
          </a:prstGeom>
          <a:noFill/>
          <a:ln/>
        </p:spPr>
        <p:txBody>
          <a:bodyPr wrap="square" rtlCol="0" anchor="ctr"/>
          <a:lstStyle/>
          <a:p>
            <a:pPr algn="ctr" indent="0" marL="0">
              <a:buNone/>
            </a:pPr>
            <a:r>
              <a:rPr lang="en-US" sz="900" dirty="0">
                <a:solidFill>
                  <a:srgbClr val="29BA74"/>
                </a:solidFill>
                <a:latin typeface="Meiryo UI" pitchFamily="34" charset="0"/>
                <a:ea typeface="Meiryo UI" pitchFamily="34" charset="-122"/>
                <a:cs typeface="Meiryo UI" pitchFamily="34" charset="-120"/>
              </a:rPr>
              <a:t>事前準備の効率化</a:t>
            </a:r>
            <a:endParaRPr lang="en-US" sz="900" dirty="0"/>
          </a:p>
          <a:p>
            <a:pPr algn="ctr" indent="0" marL="0">
              <a:buNone/>
            </a:pPr>
            <a:r>
              <a:rPr lang="en-US" sz="900" dirty="0">
                <a:solidFill>
                  <a:srgbClr val="29BA74"/>
                </a:solidFill>
                <a:latin typeface="Meiryo UI" pitchFamily="34" charset="0"/>
                <a:ea typeface="Meiryo UI" pitchFamily="34" charset="-122"/>
                <a:cs typeface="Meiryo UI" pitchFamily="34" charset="-120"/>
              </a:rPr>
              <a:t>会員理解の深化</a:t>
            </a:r>
            <a:endParaRPr lang="en-US" sz="900" dirty="0"/>
          </a:p>
        </p:txBody>
      </p:sp>
      <p:sp>
        <p:nvSpPr>
          <p:cNvPr id="15" name="Text 13"/>
          <p:cNvSpPr/>
          <p:nvPr/>
        </p:nvSpPr>
        <p:spPr>
          <a:xfrm>
            <a:off x="2423160" y="2606040"/>
            <a:ext cx="137160" cy="365760"/>
          </a:xfrm>
          <a:prstGeom prst="rect">
            <a:avLst/>
          </a:prstGeom>
          <a:noFill/>
          <a:ln/>
        </p:spPr>
        <p:txBody>
          <a:bodyPr wrap="square" rtlCol="0" anchor="ctr"/>
          <a:lstStyle/>
          <a:p>
            <a:pPr algn="ctr" indent="0" marL="0">
              <a:buNone/>
            </a:pPr>
            <a:r>
              <a:rPr lang="en-US" sz="1400" dirty="0">
                <a:solidFill>
                  <a:srgbClr val="A6A6A6"/>
                </a:solidFill>
                <a:latin typeface="Century Gothic" pitchFamily="34" charset="0"/>
                <a:ea typeface="Century Gothic" pitchFamily="34" charset="-122"/>
                <a:cs typeface="Century Gothic" pitchFamily="34" charset="-120"/>
              </a:rPr>
              <a:t>→</a:t>
            </a:r>
            <a:endParaRPr lang="en-US" sz="1400" dirty="0"/>
          </a:p>
        </p:txBody>
      </p:sp>
      <p:sp>
        <p:nvSpPr>
          <p:cNvPr id="16" name="Shape 14"/>
          <p:cNvSpPr/>
          <p:nvPr/>
        </p:nvSpPr>
        <p:spPr>
          <a:xfrm>
            <a:off x="2560320" y="1417320"/>
            <a:ext cx="1965960" cy="292608"/>
          </a:xfrm>
          <a:prstGeom prst="rect">
            <a:avLst/>
          </a:prstGeom>
          <a:solidFill>
            <a:srgbClr val="29BA74"/>
          </a:solidFill>
          <a:ln/>
        </p:spPr>
      </p:sp>
      <p:sp>
        <p:nvSpPr>
          <p:cNvPr id="17" name="Text 15"/>
          <p:cNvSpPr/>
          <p:nvPr/>
        </p:nvSpPr>
        <p:spPr>
          <a:xfrm>
            <a:off x="2560320" y="1417320"/>
            <a:ext cx="1965960"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Step 2</a:t>
            </a:r>
            <a:endParaRPr lang="en-US" sz="1000" dirty="0"/>
          </a:p>
        </p:txBody>
      </p:sp>
      <p:sp>
        <p:nvSpPr>
          <p:cNvPr id="18" name="Shape 16"/>
          <p:cNvSpPr/>
          <p:nvPr/>
        </p:nvSpPr>
        <p:spPr>
          <a:xfrm>
            <a:off x="2560320" y="1709928"/>
            <a:ext cx="1965960" cy="457200"/>
          </a:xfrm>
          <a:prstGeom prst="rect">
            <a:avLst/>
          </a:prstGeom>
          <a:solidFill>
            <a:srgbClr val="1B3928"/>
          </a:solidFill>
          <a:ln/>
        </p:spPr>
      </p:sp>
      <p:sp>
        <p:nvSpPr>
          <p:cNvPr id="19" name="Text 17"/>
          <p:cNvSpPr/>
          <p:nvPr/>
        </p:nvSpPr>
        <p:spPr>
          <a:xfrm>
            <a:off x="2560320" y="1709928"/>
            <a:ext cx="1965960" cy="457200"/>
          </a:xfrm>
          <a:prstGeom prst="rect">
            <a:avLst/>
          </a:prstGeom>
          <a:noFill/>
          <a:ln/>
        </p:spPr>
        <p:txBody>
          <a:bodyPr wrap="square"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面談中</a:t>
            </a:r>
            <a:endParaRPr lang="en-US" sz="1000" dirty="0"/>
          </a:p>
        </p:txBody>
      </p:sp>
      <p:sp>
        <p:nvSpPr>
          <p:cNvPr id="20" name="Shape 18"/>
          <p:cNvSpPr/>
          <p:nvPr/>
        </p:nvSpPr>
        <p:spPr>
          <a:xfrm>
            <a:off x="2560320" y="2167128"/>
            <a:ext cx="1965960" cy="1234440"/>
          </a:xfrm>
          <a:prstGeom prst="rect">
            <a:avLst/>
          </a:prstGeom>
          <a:solidFill>
            <a:srgbClr val="F5F5F5"/>
          </a:solidFill>
          <a:ln/>
        </p:spPr>
      </p:sp>
      <p:sp>
        <p:nvSpPr>
          <p:cNvPr id="21" name="Text 19"/>
          <p:cNvSpPr/>
          <p:nvPr/>
        </p:nvSpPr>
        <p:spPr>
          <a:xfrm>
            <a:off x="2633472" y="2212848"/>
            <a:ext cx="1819656" cy="1143000"/>
          </a:xfrm>
          <a:prstGeom prst="rect">
            <a:avLst/>
          </a:prstGeom>
          <a:noFill/>
          <a:ln/>
        </p:spPr>
        <p:txBody>
          <a:bodyPr wrap="square" rtlCol="0" anchor="t"/>
          <a:lstStyle/>
          <a:p>
            <a:pPr indent="0" marL="0">
              <a:buNone/>
            </a:pPr>
            <a:r>
              <a:rPr lang="en-US" sz="900" dirty="0">
                <a:solidFill>
                  <a:srgbClr val="404040"/>
                </a:solidFill>
                <a:latin typeface="Meiryo UI" pitchFamily="34" charset="0"/>
                <a:ea typeface="Meiryo UI" pitchFamily="34" charset="-122"/>
                <a:cs typeface="Meiryo UI" pitchFamily="34" charset="-120"/>
              </a:rPr>
              <a:t>・録音・リアルタイム文字起こし</a:t>
            </a:r>
            <a:endParaRPr lang="en-US" sz="900" dirty="0"/>
          </a:p>
          <a:p>
            <a:pPr indent="0" marL="0">
              <a:buNone/>
            </a:pPr>
            <a:r>
              <a:rPr lang="en-US" sz="900" dirty="0">
                <a:solidFill>
                  <a:srgbClr val="404040"/>
                </a:solidFill>
                <a:latin typeface="Meiryo UI" pitchFamily="34" charset="0"/>
                <a:ea typeface="Meiryo UI" pitchFamily="34" charset="-122"/>
                <a:cs typeface="Meiryo UI" pitchFamily="34" charset="-120"/>
              </a:rPr>
              <a:t>・要点ハイライト</a:t>
            </a:r>
            <a:endParaRPr lang="en-US" sz="900" dirty="0"/>
          </a:p>
          <a:p>
            <a:pPr indent="0" marL="0">
              <a:buNone/>
            </a:pPr>
            <a:r>
              <a:rPr lang="en-US" sz="900" dirty="0">
                <a:solidFill>
                  <a:srgbClr val="404040"/>
                </a:solidFill>
                <a:latin typeface="Meiryo UI" pitchFamily="34" charset="0"/>
                <a:ea typeface="Meiryo UI" pitchFamily="34" charset="-122"/>
                <a:cs typeface="Meiryo UI" pitchFamily="34" charset="-120"/>
              </a:rPr>
              <a:t>・次アクション候補提示</a:t>
            </a:r>
            <a:endParaRPr lang="en-US" sz="900" dirty="0"/>
          </a:p>
        </p:txBody>
      </p:sp>
      <p:sp>
        <p:nvSpPr>
          <p:cNvPr id="22" name="Text 20"/>
          <p:cNvSpPr/>
          <p:nvPr/>
        </p:nvSpPr>
        <p:spPr>
          <a:xfrm>
            <a:off x="2560320" y="3474720"/>
            <a:ext cx="1965960" cy="201168"/>
          </a:xfrm>
          <a:prstGeom prst="rect">
            <a:avLst/>
          </a:prstGeom>
          <a:noFill/>
          <a:ln/>
        </p:spPr>
        <p:txBody>
          <a:bodyPr wrap="square" rtlCol="0" anchor="ctr"/>
          <a:lstStyle/>
          <a:p>
            <a:pPr algn="ctr" indent="0" marL="0">
              <a:buNone/>
            </a:pPr>
            <a:r>
              <a:rPr lang="en-US" sz="800" dirty="0">
                <a:solidFill>
                  <a:srgbClr val="A6A6A6"/>
                </a:solidFill>
                <a:latin typeface="Meiryo UI" pitchFamily="34" charset="0"/>
                <a:ea typeface="Meiryo UI" pitchFamily="34" charset="-122"/>
                <a:cs typeface="Meiryo UI" pitchFamily="34" charset="-120"/>
              </a:rPr>
              <a:t>提供価値</a:t>
            </a:r>
            <a:endParaRPr lang="en-US" sz="800" dirty="0"/>
          </a:p>
        </p:txBody>
      </p:sp>
      <p:sp>
        <p:nvSpPr>
          <p:cNvPr id="23" name="Shape 21"/>
          <p:cNvSpPr/>
          <p:nvPr/>
        </p:nvSpPr>
        <p:spPr>
          <a:xfrm>
            <a:off x="2560320" y="3675888"/>
            <a:ext cx="1965960" cy="685800"/>
          </a:xfrm>
          <a:prstGeom prst="rect">
            <a:avLst/>
          </a:prstGeom>
          <a:solidFill>
            <a:srgbClr val="E8F5F0"/>
          </a:solidFill>
          <a:ln/>
        </p:spPr>
      </p:sp>
      <p:sp>
        <p:nvSpPr>
          <p:cNvPr id="24" name="Text 22"/>
          <p:cNvSpPr/>
          <p:nvPr/>
        </p:nvSpPr>
        <p:spPr>
          <a:xfrm>
            <a:off x="2633472" y="3703320"/>
            <a:ext cx="1819656" cy="640080"/>
          </a:xfrm>
          <a:prstGeom prst="rect">
            <a:avLst/>
          </a:prstGeom>
          <a:noFill/>
          <a:ln/>
        </p:spPr>
        <p:txBody>
          <a:bodyPr wrap="square" rtlCol="0" anchor="ctr"/>
          <a:lstStyle/>
          <a:p>
            <a:pPr algn="ctr" indent="0" marL="0">
              <a:buNone/>
            </a:pPr>
            <a:r>
              <a:rPr lang="en-US" sz="900" dirty="0">
                <a:solidFill>
                  <a:srgbClr val="29BA74"/>
                </a:solidFill>
                <a:latin typeface="Meiryo UI" pitchFamily="34" charset="0"/>
                <a:ea typeface="Meiryo UI" pitchFamily="34" charset="-122"/>
                <a:cs typeface="Meiryo UI" pitchFamily="34" charset="-120"/>
              </a:rPr>
              <a:t>メモ取り負荷ゼロ</a:t>
            </a:r>
            <a:endParaRPr lang="en-US" sz="900" dirty="0"/>
          </a:p>
          <a:p>
            <a:pPr algn="ctr" indent="0" marL="0">
              <a:buNone/>
            </a:pPr>
            <a:r>
              <a:rPr lang="en-US" sz="900" dirty="0">
                <a:solidFill>
                  <a:srgbClr val="29BA74"/>
                </a:solidFill>
                <a:latin typeface="Meiryo UI" pitchFamily="34" charset="0"/>
                <a:ea typeface="Meiryo UI" pitchFamily="34" charset="-122"/>
                <a:cs typeface="Meiryo UI" pitchFamily="34" charset="-120"/>
              </a:rPr>
              <a:t>会話に集中できる環境</a:t>
            </a:r>
            <a:endParaRPr lang="en-US" sz="900" dirty="0"/>
          </a:p>
        </p:txBody>
      </p:sp>
      <p:sp>
        <p:nvSpPr>
          <p:cNvPr id="25" name="Text 23"/>
          <p:cNvSpPr/>
          <p:nvPr/>
        </p:nvSpPr>
        <p:spPr>
          <a:xfrm>
            <a:off x="4526280" y="2606040"/>
            <a:ext cx="137160" cy="365760"/>
          </a:xfrm>
          <a:prstGeom prst="rect">
            <a:avLst/>
          </a:prstGeom>
          <a:noFill/>
          <a:ln/>
        </p:spPr>
        <p:txBody>
          <a:bodyPr wrap="square" rtlCol="0" anchor="ctr"/>
          <a:lstStyle/>
          <a:p>
            <a:pPr algn="ctr" indent="0" marL="0">
              <a:buNone/>
            </a:pPr>
            <a:r>
              <a:rPr lang="en-US" sz="1400" dirty="0">
                <a:solidFill>
                  <a:srgbClr val="A6A6A6"/>
                </a:solidFill>
                <a:latin typeface="Century Gothic" pitchFamily="34" charset="0"/>
                <a:ea typeface="Century Gothic" pitchFamily="34" charset="-122"/>
                <a:cs typeface="Century Gothic" pitchFamily="34" charset="-120"/>
              </a:rPr>
              <a:t>→</a:t>
            </a:r>
            <a:endParaRPr lang="en-US" sz="1400" dirty="0"/>
          </a:p>
        </p:txBody>
      </p:sp>
      <p:sp>
        <p:nvSpPr>
          <p:cNvPr id="26" name="Shape 24"/>
          <p:cNvSpPr/>
          <p:nvPr/>
        </p:nvSpPr>
        <p:spPr>
          <a:xfrm>
            <a:off x="4663440" y="1417320"/>
            <a:ext cx="1965960" cy="292608"/>
          </a:xfrm>
          <a:prstGeom prst="rect">
            <a:avLst/>
          </a:prstGeom>
          <a:solidFill>
            <a:srgbClr val="29BA74"/>
          </a:solidFill>
          <a:ln/>
        </p:spPr>
      </p:sp>
      <p:sp>
        <p:nvSpPr>
          <p:cNvPr id="27" name="Text 25"/>
          <p:cNvSpPr/>
          <p:nvPr/>
        </p:nvSpPr>
        <p:spPr>
          <a:xfrm>
            <a:off x="4663440" y="1417320"/>
            <a:ext cx="1965960"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Step 3</a:t>
            </a:r>
            <a:endParaRPr lang="en-US" sz="1000" dirty="0"/>
          </a:p>
        </p:txBody>
      </p:sp>
      <p:sp>
        <p:nvSpPr>
          <p:cNvPr id="28" name="Shape 26"/>
          <p:cNvSpPr/>
          <p:nvPr/>
        </p:nvSpPr>
        <p:spPr>
          <a:xfrm>
            <a:off x="4663440" y="1709928"/>
            <a:ext cx="1965960" cy="457200"/>
          </a:xfrm>
          <a:prstGeom prst="rect">
            <a:avLst/>
          </a:prstGeom>
          <a:solidFill>
            <a:srgbClr val="1B3928"/>
          </a:solidFill>
          <a:ln/>
        </p:spPr>
      </p:sp>
      <p:sp>
        <p:nvSpPr>
          <p:cNvPr id="29" name="Text 27"/>
          <p:cNvSpPr/>
          <p:nvPr/>
        </p:nvSpPr>
        <p:spPr>
          <a:xfrm>
            <a:off x="4663440" y="1709928"/>
            <a:ext cx="1965960" cy="457200"/>
          </a:xfrm>
          <a:prstGeom prst="rect">
            <a:avLst/>
          </a:prstGeom>
          <a:noFill/>
          <a:ln/>
        </p:spPr>
        <p:txBody>
          <a:bodyPr wrap="square"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バックヤード</a:t>
            </a:r>
            <a:endParaRPr lang="en-US" sz="1000" dirty="0"/>
          </a:p>
          <a:p>
            <a:pPr algn="ctr" indent="0" marL="0">
              <a:buNone/>
            </a:pPr>
            <a:r>
              <a:rPr lang="en-US" sz="1000" dirty="0">
                <a:solidFill>
                  <a:srgbClr val="FFFFFF"/>
                </a:solidFill>
                <a:latin typeface="Meiryo UI" pitchFamily="34" charset="0"/>
                <a:ea typeface="Meiryo UI" pitchFamily="34" charset="-122"/>
                <a:cs typeface="Meiryo UI" pitchFamily="34" charset="-120"/>
              </a:rPr>
              <a:t>相談</a:t>
            </a:r>
            <a:endParaRPr lang="en-US" sz="1000" dirty="0"/>
          </a:p>
        </p:txBody>
      </p:sp>
      <p:sp>
        <p:nvSpPr>
          <p:cNvPr id="30" name="Shape 28"/>
          <p:cNvSpPr/>
          <p:nvPr/>
        </p:nvSpPr>
        <p:spPr>
          <a:xfrm>
            <a:off x="4663440" y="2167128"/>
            <a:ext cx="1965960" cy="1234440"/>
          </a:xfrm>
          <a:prstGeom prst="rect">
            <a:avLst/>
          </a:prstGeom>
          <a:solidFill>
            <a:srgbClr val="F5F5F5"/>
          </a:solidFill>
          <a:ln/>
        </p:spPr>
      </p:sp>
      <p:sp>
        <p:nvSpPr>
          <p:cNvPr id="31" name="Text 29"/>
          <p:cNvSpPr/>
          <p:nvPr/>
        </p:nvSpPr>
        <p:spPr>
          <a:xfrm>
            <a:off x="4736592" y="2212848"/>
            <a:ext cx="1819656" cy="1143000"/>
          </a:xfrm>
          <a:prstGeom prst="rect">
            <a:avLst/>
          </a:prstGeom>
          <a:noFill/>
          <a:ln/>
        </p:spPr>
        <p:txBody>
          <a:bodyPr wrap="square" rtlCol="0" anchor="t"/>
          <a:lstStyle/>
          <a:p>
            <a:pPr indent="0" marL="0">
              <a:buNone/>
            </a:pPr>
            <a:r>
              <a:rPr lang="en-US" sz="900" dirty="0">
                <a:solidFill>
                  <a:srgbClr val="404040"/>
                </a:solidFill>
                <a:latin typeface="Meiryo UI" pitchFamily="34" charset="0"/>
                <a:ea typeface="Meiryo UI" pitchFamily="34" charset="-122"/>
                <a:cs typeface="Meiryo UI" pitchFamily="34" charset="-120"/>
              </a:rPr>
              <a:t>・会話要約を支社長と共有</a:t>
            </a:r>
            <a:endParaRPr lang="en-US" sz="900" dirty="0"/>
          </a:p>
          <a:p>
            <a:pPr indent="0" marL="0">
              <a:buNone/>
            </a:pPr>
            <a:r>
              <a:rPr lang="en-US" sz="900" dirty="0">
                <a:solidFill>
                  <a:srgbClr val="404040"/>
                </a:solidFill>
                <a:latin typeface="Meiryo UI" pitchFamily="34" charset="0"/>
                <a:ea typeface="Meiryo UI" pitchFamily="34" charset="-122"/>
                <a:cs typeface="Meiryo UI" pitchFamily="34" charset="-120"/>
              </a:rPr>
              <a:t>・AIが深掘りポイント提示</a:t>
            </a:r>
            <a:endParaRPr lang="en-US" sz="900" dirty="0"/>
          </a:p>
          <a:p>
            <a:pPr indent="0" marL="0">
              <a:buNone/>
            </a:pPr>
            <a:r>
              <a:rPr lang="en-US" sz="900" dirty="0">
                <a:solidFill>
                  <a:srgbClr val="404040"/>
                </a:solidFill>
                <a:latin typeface="Meiryo UI" pitchFamily="34" charset="0"/>
                <a:ea typeface="Meiryo UI" pitchFamily="34" charset="-122"/>
                <a:cs typeface="Meiryo UI" pitchFamily="34" charset="-120"/>
              </a:rPr>
              <a:t>・提案オプション生成</a:t>
            </a:r>
            <a:endParaRPr lang="en-US" sz="900" dirty="0"/>
          </a:p>
        </p:txBody>
      </p:sp>
      <p:sp>
        <p:nvSpPr>
          <p:cNvPr id="32" name="Text 30"/>
          <p:cNvSpPr/>
          <p:nvPr/>
        </p:nvSpPr>
        <p:spPr>
          <a:xfrm>
            <a:off x="4663440" y="3474720"/>
            <a:ext cx="1965960" cy="201168"/>
          </a:xfrm>
          <a:prstGeom prst="rect">
            <a:avLst/>
          </a:prstGeom>
          <a:noFill/>
          <a:ln/>
        </p:spPr>
        <p:txBody>
          <a:bodyPr wrap="square" rtlCol="0" anchor="ctr"/>
          <a:lstStyle/>
          <a:p>
            <a:pPr algn="ctr" indent="0" marL="0">
              <a:buNone/>
            </a:pPr>
            <a:r>
              <a:rPr lang="en-US" sz="800" dirty="0">
                <a:solidFill>
                  <a:srgbClr val="A6A6A6"/>
                </a:solidFill>
                <a:latin typeface="Meiryo UI" pitchFamily="34" charset="0"/>
                <a:ea typeface="Meiryo UI" pitchFamily="34" charset="-122"/>
                <a:cs typeface="Meiryo UI" pitchFamily="34" charset="-120"/>
              </a:rPr>
              <a:t>提供価値</a:t>
            </a:r>
            <a:endParaRPr lang="en-US" sz="800" dirty="0"/>
          </a:p>
        </p:txBody>
      </p:sp>
      <p:sp>
        <p:nvSpPr>
          <p:cNvPr id="33" name="Shape 31"/>
          <p:cNvSpPr/>
          <p:nvPr/>
        </p:nvSpPr>
        <p:spPr>
          <a:xfrm>
            <a:off x="4663440" y="3675888"/>
            <a:ext cx="1965960" cy="685800"/>
          </a:xfrm>
          <a:prstGeom prst="rect">
            <a:avLst/>
          </a:prstGeom>
          <a:solidFill>
            <a:srgbClr val="E8F5F0"/>
          </a:solidFill>
          <a:ln/>
        </p:spPr>
      </p:sp>
      <p:sp>
        <p:nvSpPr>
          <p:cNvPr id="34" name="Text 32"/>
          <p:cNvSpPr/>
          <p:nvPr/>
        </p:nvSpPr>
        <p:spPr>
          <a:xfrm>
            <a:off x="4736592" y="3703320"/>
            <a:ext cx="1819656" cy="640080"/>
          </a:xfrm>
          <a:prstGeom prst="rect">
            <a:avLst/>
          </a:prstGeom>
          <a:noFill/>
          <a:ln/>
        </p:spPr>
        <p:txBody>
          <a:bodyPr wrap="square" rtlCol="0" anchor="ctr"/>
          <a:lstStyle/>
          <a:p>
            <a:pPr algn="ctr" indent="0" marL="0">
              <a:buNone/>
            </a:pPr>
            <a:r>
              <a:rPr lang="en-US" sz="900" dirty="0">
                <a:solidFill>
                  <a:srgbClr val="29BA74"/>
                </a:solidFill>
                <a:latin typeface="Meiryo UI" pitchFamily="34" charset="0"/>
                <a:ea typeface="Meiryo UI" pitchFamily="34" charset="-122"/>
                <a:cs typeface="Meiryo UI" pitchFamily="34" charset="-120"/>
              </a:rPr>
              <a:t>正確な情報共有</a:t>
            </a:r>
            <a:endParaRPr lang="en-US" sz="900" dirty="0"/>
          </a:p>
          <a:p>
            <a:pPr algn="ctr" indent="0" marL="0">
              <a:buNone/>
            </a:pPr>
            <a:r>
              <a:rPr lang="en-US" sz="900" dirty="0">
                <a:solidFill>
                  <a:srgbClr val="29BA74"/>
                </a:solidFill>
                <a:latin typeface="Meiryo UI" pitchFamily="34" charset="0"/>
                <a:ea typeface="Meiryo UI" pitchFamily="34" charset="-122"/>
                <a:cs typeface="Meiryo UI" pitchFamily="34" charset="-120"/>
              </a:rPr>
              <a:t>待ち時間短縮</a:t>
            </a:r>
            <a:endParaRPr lang="en-US" sz="900" dirty="0"/>
          </a:p>
        </p:txBody>
      </p:sp>
      <p:sp>
        <p:nvSpPr>
          <p:cNvPr id="35" name="Text 33"/>
          <p:cNvSpPr/>
          <p:nvPr/>
        </p:nvSpPr>
        <p:spPr>
          <a:xfrm>
            <a:off x="6629400" y="2606040"/>
            <a:ext cx="137160" cy="365760"/>
          </a:xfrm>
          <a:prstGeom prst="rect">
            <a:avLst/>
          </a:prstGeom>
          <a:noFill/>
          <a:ln/>
        </p:spPr>
        <p:txBody>
          <a:bodyPr wrap="square" rtlCol="0" anchor="ctr"/>
          <a:lstStyle/>
          <a:p>
            <a:pPr algn="ctr" indent="0" marL="0">
              <a:buNone/>
            </a:pPr>
            <a:r>
              <a:rPr lang="en-US" sz="1400" dirty="0">
                <a:solidFill>
                  <a:srgbClr val="A6A6A6"/>
                </a:solidFill>
                <a:latin typeface="Century Gothic" pitchFamily="34" charset="0"/>
                <a:ea typeface="Century Gothic" pitchFamily="34" charset="-122"/>
                <a:cs typeface="Century Gothic" pitchFamily="34" charset="-120"/>
              </a:rPr>
              <a:t>→</a:t>
            </a:r>
            <a:endParaRPr lang="en-US" sz="1400" dirty="0"/>
          </a:p>
        </p:txBody>
      </p:sp>
      <p:sp>
        <p:nvSpPr>
          <p:cNvPr id="36" name="Shape 34"/>
          <p:cNvSpPr/>
          <p:nvPr/>
        </p:nvSpPr>
        <p:spPr>
          <a:xfrm>
            <a:off x="6766560" y="1417320"/>
            <a:ext cx="1965960" cy="292608"/>
          </a:xfrm>
          <a:prstGeom prst="rect">
            <a:avLst/>
          </a:prstGeom>
          <a:solidFill>
            <a:srgbClr val="29BA74"/>
          </a:solidFill>
          <a:ln/>
        </p:spPr>
      </p:sp>
      <p:sp>
        <p:nvSpPr>
          <p:cNvPr id="37" name="Text 35"/>
          <p:cNvSpPr/>
          <p:nvPr/>
        </p:nvSpPr>
        <p:spPr>
          <a:xfrm>
            <a:off x="6766560" y="1417320"/>
            <a:ext cx="1965960"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Step 4</a:t>
            </a:r>
            <a:endParaRPr lang="en-US" sz="1000" dirty="0"/>
          </a:p>
        </p:txBody>
      </p:sp>
      <p:sp>
        <p:nvSpPr>
          <p:cNvPr id="38" name="Shape 36"/>
          <p:cNvSpPr/>
          <p:nvPr/>
        </p:nvSpPr>
        <p:spPr>
          <a:xfrm>
            <a:off x="6766560" y="1709928"/>
            <a:ext cx="1965960" cy="457200"/>
          </a:xfrm>
          <a:prstGeom prst="rect">
            <a:avLst/>
          </a:prstGeom>
          <a:solidFill>
            <a:srgbClr val="1B3928"/>
          </a:solidFill>
          <a:ln/>
        </p:spPr>
      </p:sp>
      <p:sp>
        <p:nvSpPr>
          <p:cNvPr id="39" name="Text 37"/>
          <p:cNvSpPr/>
          <p:nvPr/>
        </p:nvSpPr>
        <p:spPr>
          <a:xfrm>
            <a:off x="6766560" y="1709928"/>
            <a:ext cx="1965960" cy="457200"/>
          </a:xfrm>
          <a:prstGeom prst="rect">
            <a:avLst/>
          </a:prstGeom>
          <a:noFill/>
          <a:ln/>
        </p:spPr>
        <p:txBody>
          <a:bodyPr wrap="square"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面談後</a:t>
            </a:r>
            <a:endParaRPr lang="en-US" sz="1000" dirty="0"/>
          </a:p>
        </p:txBody>
      </p:sp>
      <p:sp>
        <p:nvSpPr>
          <p:cNvPr id="40" name="Shape 38"/>
          <p:cNvSpPr/>
          <p:nvPr/>
        </p:nvSpPr>
        <p:spPr>
          <a:xfrm>
            <a:off x="6766560" y="2167128"/>
            <a:ext cx="1965960" cy="1234440"/>
          </a:xfrm>
          <a:prstGeom prst="rect">
            <a:avLst/>
          </a:prstGeom>
          <a:solidFill>
            <a:srgbClr val="F5F5F5"/>
          </a:solidFill>
          <a:ln/>
        </p:spPr>
      </p:sp>
      <p:sp>
        <p:nvSpPr>
          <p:cNvPr id="41" name="Text 39"/>
          <p:cNvSpPr/>
          <p:nvPr/>
        </p:nvSpPr>
        <p:spPr>
          <a:xfrm>
            <a:off x="6839712" y="2212848"/>
            <a:ext cx="1819656" cy="1143000"/>
          </a:xfrm>
          <a:prstGeom prst="rect">
            <a:avLst/>
          </a:prstGeom>
          <a:noFill/>
          <a:ln/>
        </p:spPr>
        <p:txBody>
          <a:bodyPr wrap="square" rtlCol="0" anchor="t"/>
          <a:lstStyle/>
          <a:p>
            <a:pPr indent="0" marL="0">
              <a:buNone/>
            </a:pPr>
            <a:r>
              <a:rPr lang="en-US" sz="900" dirty="0">
                <a:solidFill>
                  <a:srgbClr val="404040"/>
                </a:solidFill>
                <a:latin typeface="Meiryo UI" pitchFamily="34" charset="0"/>
                <a:ea typeface="Meiryo UI" pitchFamily="34" charset="-122"/>
                <a:cs typeface="Meiryo UI" pitchFamily="34" charset="-120"/>
              </a:rPr>
              <a:t>・会員向けレポート生成</a:t>
            </a:r>
            <a:endParaRPr lang="en-US" sz="900" dirty="0"/>
          </a:p>
          <a:p>
            <a:pPr indent="0" marL="0">
              <a:buNone/>
            </a:pPr>
            <a:r>
              <a:rPr lang="en-US" sz="900" dirty="0">
                <a:solidFill>
                  <a:srgbClr val="404040"/>
                </a:solidFill>
                <a:latin typeface="Meiryo UI" pitchFamily="34" charset="0"/>
                <a:ea typeface="Meiryo UI" pitchFamily="34" charset="-122"/>
                <a:cs typeface="Meiryo UI" pitchFamily="34" charset="-120"/>
              </a:rPr>
              <a:t>・顧客カルテ更新</a:t>
            </a:r>
            <a:endParaRPr lang="en-US" sz="900" dirty="0"/>
          </a:p>
        </p:txBody>
      </p:sp>
      <p:sp>
        <p:nvSpPr>
          <p:cNvPr id="42" name="Text 40"/>
          <p:cNvSpPr/>
          <p:nvPr/>
        </p:nvSpPr>
        <p:spPr>
          <a:xfrm>
            <a:off x="6766560" y="3474720"/>
            <a:ext cx="1965960" cy="201168"/>
          </a:xfrm>
          <a:prstGeom prst="rect">
            <a:avLst/>
          </a:prstGeom>
          <a:noFill/>
          <a:ln/>
        </p:spPr>
        <p:txBody>
          <a:bodyPr wrap="square" rtlCol="0" anchor="ctr"/>
          <a:lstStyle/>
          <a:p>
            <a:pPr algn="ctr" indent="0" marL="0">
              <a:buNone/>
            </a:pPr>
            <a:r>
              <a:rPr lang="en-US" sz="800" dirty="0">
                <a:solidFill>
                  <a:srgbClr val="A6A6A6"/>
                </a:solidFill>
                <a:latin typeface="Meiryo UI" pitchFamily="34" charset="0"/>
                <a:ea typeface="Meiryo UI" pitchFamily="34" charset="-122"/>
                <a:cs typeface="Meiryo UI" pitchFamily="34" charset="-120"/>
              </a:rPr>
              <a:t>提供価値</a:t>
            </a:r>
            <a:endParaRPr lang="en-US" sz="800" dirty="0"/>
          </a:p>
        </p:txBody>
      </p:sp>
      <p:sp>
        <p:nvSpPr>
          <p:cNvPr id="43" name="Shape 41"/>
          <p:cNvSpPr/>
          <p:nvPr/>
        </p:nvSpPr>
        <p:spPr>
          <a:xfrm>
            <a:off x="6766560" y="3675888"/>
            <a:ext cx="1965960" cy="685800"/>
          </a:xfrm>
          <a:prstGeom prst="rect">
            <a:avLst/>
          </a:prstGeom>
          <a:solidFill>
            <a:srgbClr val="E8F5F0"/>
          </a:solidFill>
          <a:ln/>
        </p:spPr>
      </p:sp>
      <p:sp>
        <p:nvSpPr>
          <p:cNvPr id="44" name="Text 42"/>
          <p:cNvSpPr/>
          <p:nvPr/>
        </p:nvSpPr>
        <p:spPr>
          <a:xfrm>
            <a:off x="6839712" y="3703320"/>
            <a:ext cx="1819656" cy="640080"/>
          </a:xfrm>
          <a:prstGeom prst="rect">
            <a:avLst/>
          </a:prstGeom>
          <a:noFill/>
          <a:ln/>
        </p:spPr>
        <p:txBody>
          <a:bodyPr wrap="square" rtlCol="0" anchor="ctr"/>
          <a:lstStyle/>
          <a:p>
            <a:pPr algn="ctr" indent="0" marL="0">
              <a:buNone/>
            </a:pPr>
            <a:r>
              <a:rPr lang="en-US" sz="900" dirty="0">
                <a:solidFill>
                  <a:srgbClr val="29BA74"/>
                </a:solidFill>
                <a:latin typeface="Meiryo UI" pitchFamily="34" charset="0"/>
                <a:ea typeface="Meiryo UI" pitchFamily="34" charset="-122"/>
                <a:cs typeface="Meiryo UI" pitchFamily="34" charset="-120"/>
              </a:rPr>
              <a:t>作成工数削減</a:t>
            </a:r>
            <a:endParaRPr lang="en-US" sz="900" dirty="0"/>
          </a:p>
          <a:p>
            <a:pPr algn="ctr" indent="0" marL="0">
              <a:buNone/>
            </a:pPr>
            <a:r>
              <a:rPr lang="en-US" sz="900" dirty="0">
                <a:solidFill>
                  <a:srgbClr val="29BA74"/>
                </a:solidFill>
                <a:latin typeface="Meiryo UI" pitchFamily="34" charset="0"/>
                <a:ea typeface="Meiryo UI" pitchFamily="34" charset="-122"/>
                <a:cs typeface="Meiryo UI" pitchFamily="34" charset="-120"/>
              </a:rPr>
              <a:t>品質平準化</a:t>
            </a:r>
            <a:endParaRPr lang="en-US" sz="900" dirty="0"/>
          </a:p>
        </p:txBody>
      </p:sp>
      <p:sp>
        <p:nvSpPr>
          <p:cNvPr id="45" name="Text 43"/>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46" name="Text 44"/>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371600"/>
            <a:ext cx="914400" cy="457200"/>
          </a:xfrm>
          <a:prstGeom prst="rect">
            <a:avLst/>
          </a:prstGeom>
          <a:noFill/>
          <a:ln/>
        </p:spPr>
        <p:txBody>
          <a:bodyPr wrap="square" rtlCol="0" anchor="ctr"/>
          <a:lstStyle/>
          <a:p>
            <a:pPr indent="0" marL="0">
              <a:buNone/>
            </a:pPr>
            <a:r>
              <a:rPr lang="en-US" sz="3200" b="1" dirty="0">
                <a:solidFill>
                  <a:srgbClr val="29BA74"/>
                </a:solidFill>
                <a:latin typeface="Century Gothic" pitchFamily="34" charset="0"/>
                <a:ea typeface="Century Gothic" pitchFamily="34" charset="-122"/>
                <a:cs typeface="Century Gothic" pitchFamily="34" charset="-120"/>
              </a:rPr>
              <a:t>03</a:t>
            </a:r>
            <a:endParaRPr lang="en-US" sz="3200" dirty="0"/>
          </a:p>
        </p:txBody>
      </p:sp>
      <p:sp>
        <p:nvSpPr>
          <p:cNvPr id="3" name="Text 1"/>
          <p:cNvSpPr/>
          <p:nvPr/>
        </p:nvSpPr>
        <p:spPr>
          <a:xfrm>
            <a:off x="457200" y="1920240"/>
            <a:ext cx="8229600" cy="731520"/>
          </a:xfrm>
          <a:prstGeom prst="rect">
            <a:avLst/>
          </a:prstGeom>
          <a:noFill/>
          <a:ln/>
        </p:spPr>
        <p:txBody>
          <a:bodyPr wrap="square" rtlCol="0" anchor="ctr"/>
          <a:lstStyle/>
          <a:p>
            <a:pPr indent="0" marL="0">
              <a:buNone/>
            </a:pPr>
            <a:r>
              <a:rPr lang="en-US" sz="2800" dirty="0">
                <a:solidFill>
                  <a:srgbClr val="FFFFFF"/>
                </a:solidFill>
                <a:latin typeface="Meiryo UI" pitchFamily="34" charset="0"/>
                <a:ea typeface="Meiryo UI" pitchFamily="34" charset="-122"/>
                <a:cs typeface="Meiryo UI" pitchFamily="34" charset="-120"/>
              </a:rPr>
              <a:t>取り組み範囲・ロードマップ</a:t>
            </a:r>
            <a:endParaRPr lang="en-US" sz="2800" dirty="0"/>
          </a:p>
        </p:txBody>
      </p:sp>
      <p:sp>
        <p:nvSpPr>
          <p:cNvPr id="4" name="Text 2"/>
          <p:cNvSpPr/>
          <p:nvPr/>
        </p:nvSpPr>
        <p:spPr>
          <a:xfrm>
            <a:off x="457200" y="2743200"/>
            <a:ext cx="8229600" cy="457200"/>
          </a:xfrm>
          <a:prstGeom prst="rect">
            <a:avLst/>
          </a:prstGeom>
          <a:noFill/>
          <a:ln/>
        </p:spPr>
        <p:txBody>
          <a:bodyPr wrap="square" rtlCol="0" anchor="ctr"/>
          <a:lstStyle/>
          <a:p>
            <a:pPr indent="0" marL="0">
              <a:buNone/>
            </a:pPr>
            <a:r>
              <a:rPr lang="en-US" sz="1400" dirty="0">
                <a:solidFill>
                  <a:srgbClr val="FFFFFF"/>
                </a:solidFill>
                <a:latin typeface="Meiryo UI" pitchFamily="34" charset="0"/>
                <a:ea typeface="Meiryo UI" pitchFamily="34" charset="-122"/>
                <a:cs typeface="Meiryo UI" pitchFamily="34" charset="-120"/>
              </a:rPr>
              <a:t>「対象業務の拡大」と「アウトプットのクオリティ向上」の2軸で段階的に発展させます。</a:t>
            </a:r>
            <a:endParaRPr lang="en-US" sz="1400" dirty="0"/>
          </a:p>
        </p:txBody>
      </p:sp>
      <p:sp>
        <p:nvSpPr>
          <p:cNvPr id="5" name="Shape 3"/>
          <p:cNvSpPr/>
          <p:nvPr/>
        </p:nvSpPr>
        <p:spPr>
          <a:xfrm>
            <a:off x="457200" y="3291840"/>
            <a:ext cx="2743200" cy="18288"/>
          </a:xfrm>
          <a:prstGeom prst="rect">
            <a:avLst/>
          </a:prstGeom>
          <a:solidFill>
            <a:srgbClr val="FFFFFF">
              <a:alpha val="50000"/>
            </a:srgbClr>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03 取り組み範囲・ロードマップ</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Century Gothic" pitchFamily="34" charset="0"/>
                <a:ea typeface="Century Gothic" pitchFamily="34" charset="-122"/>
                <a:cs typeface="Century Gothic" pitchFamily="34" charset="-120"/>
              </a:rPr>
              <a:t>3</a:t>
            </a:r>
            <a:pPr indent="0" marL="0">
              <a:buNone/>
            </a:pPr>
            <a:r>
              <a:rPr lang="en-US" sz="2000" dirty="0">
                <a:solidFill>
                  <a:srgbClr val="404040"/>
                </a:solidFill>
                <a:latin typeface="Meiryo UI" pitchFamily="34" charset="0"/>
                <a:ea typeface="Meiryo UI" pitchFamily="34" charset="-122"/>
                <a:cs typeface="Meiryo UI" pitchFamily="34" charset="-120"/>
              </a:rPr>
              <a:t>段階のロードマップ</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まずは新規面談で価値検証を行い、成功と失敗の学びを得てから段階的に拡張する。</a:t>
            </a:r>
            <a:endParaRPr lang="en-US" sz="1400" dirty="0"/>
          </a:p>
        </p:txBody>
      </p:sp>
      <p:sp>
        <p:nvSpPr>
          <p:cNvPr id="6" name="Shape 4"/>
          <p:cNvSpPr/>
          <p:nvPr/>
        </p:nvSpPr>
        <p:spPr>
          <a:xfrm>
            <a:off x="457200" y="1417320"/>
            <a:ext cx="2651760" cy="347472"/>
          </a:xfrm>
          <a:prstGeom prst="rect">
            <a:avLst/>
          </a:prstGeom>
          <a:solidFill>
            <a:srgbClr val="29BA74"/>
          </a:solidFill>
          <a:ln/>
        </p:spPr>
      </p:sp>
      <p:sp>
        <p:nvSpPr>
          <p:cNvPr id="7" name="Text 5"/>
          <p:cNvSpPr/>
          <p:nvPr/>
        </p:nvSpPr>
        <p:spPr>
          <a:xfrm>
            <a:off x="457200" y="1417320"/>
            <a:ext cx="2651760" cy="347472"/>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Phase 1</a:t>
            </a:r>
            <a:endParaRPr lang="en-US" sz="1200" dirty="0"/>
          </a:p>
        </p:txBody>
      </p:sp>
      <p:sp>
        <p:nvSpPr>
          <p:cNvPr id="8" name="Text 6"/>
          <p:cNvSpPr/>
          <p:nvPr/>
        </p:nvSpPr>
        <p:spPr>
          <a:xfrm>
            <a:off x="457200" y="1828800"/>
            <a:ext cx="2651760" cy="292608"/>
          </a:xfrm>
          <a:prstGeom prst="rect">
            <a:avLst/>
          </a:prstGeom>
          <a:noFill/>
          <a:ln/>
        </p:spPr>
        <p:txBody>
          <a:bodyPr wrap="square" rtlCol="0" anchor="ctr"/>
          <a:lstStyle/>
          <a:p>
            <a:pPr algn="ctr" indent="0" marL="0">
              <a:buNone/>
            </a:pPr>
            <a:r>
              <a:rPr lang="en-US" sz="1200" b="1" dirty="0">
                <a:solidFill>
                  <a:srgbClr val="404040"/>
                </a:solidFill>
                <a:latin typeface="Meiryo UI" pitchFamily="34" charset="0"/>
                <a:ea typeface="Meiryo UI" pitchFamily="34" charset="-122"/>
                <a:cs typeface="Meiryo UI" pitchFamily="34" charset="-120"/>
              </a:rPr>
              <a:t>入口の価値検証</a:t>
            </a:r>
            <a:endParaRPr lang="en-US" sz="1200" dirty="0"/>
          </a:p>
        </p:txBody>
      </p:sp>
      <p:sp>
        <p:nvSpPr>
          <p:cNvPr id="9" name="Text 7"/>
          <p:cNvSpPr/>
          <p:nvPr/>
        </p:nvSpPr>
        <p:spPr>
          <a:xfrm>
            <a:off x="457200" y="2121408"/>
            <a:ext cx="2651760" cy="201168"/>
          </a:xfrm>
          <a:prstGeom prst="rect">
            <a:avLst/>
          </a:prstGeom>
          <a:noFill/>
          <a:ln/>
        </p:spPr>
        <p:txBody>
          <a:bodyPr wrap="square" rtlCol="0" anchor="ctr"/>
          <a:lstStyle/>
          <a:p>
            <a:pPr algn="ctr" indent="0" marL="0">
              <a:buNone/>
            </a:pPr>
            <a:r>
              <a:rPr lang="en-US" sz="1000" dirty="0">
                <a:solidFill>
                  <a:srgbClr val="A6A6A6"/>
                </a:solidFill>
                <a:latin typeface="Meiryo UI" pitchFamily="34" charset="0"/>
                <a:ea typeface="Meiryo UI" pitchFamily="34" charset="-122"/>
                <a:cs typeface="Meiryo UI" pitchFamily="34" charset="-120"/>
              </a:rPr>
              <a:t>〜3月末</a:t>
            </a:r>
            <a:endParaRPr lang="en-US" sz="1000" dirty="0"/>
          </a:p>
        </p:txBody>
      </p:sp>
      <p:sp>
        <p:nvSpPr>
          <p:cNvPr id="10" name="Shape 8"/>
          <p:cNvSpPr/>
          <p:nvPr/>
        </p:nvSpPr>
        <p:spPr>
          <a:xfrm>
            <a:off x="457200" y="2377440"/>
            <a:ext cx="2651760" cy="411480"/>
          </a:xfrm>
          <a:prstGeom prst="rect">
            <a:avLst/>
          </a:prstGeom>
          <a:solidFill>
            <a:srgbClr val="E8F5F0"/>
          </a:solidFill>
          <a:ln/>
        </p:spPr>
      </p:sp>
      <p:sp>
        <p:nvSpPr>
          <p:cNvPr id="11" name="Text 9"/>
          <p:cNvSpPr/>
          <p:nvPr/>
        </p:nvSpPr>
        <p:spPr>
          <a:xfrm>
            <a:off x="548640" y="2377440"/>
            <a:ext cx="2468880" cy="41148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対象: 新規面談（渋谷店）</a:t>
            </a:r>
            <a:endParaRPr lang="en-US" sz="1000" dirty="0"/>
          </a:p>
        </p:txBody>
      </p:sp>
      <p:sp>
        <p:nvSpPr>
          <p:cNvPr id="12" name="Text 10"/>
          <p:cNvSpPr/>
          <p:nvPr/>
        </p:nvSpPr>
        <p:spPr>
          <a:xfrm>
            <a:off x="457200" y="2862072"/>
            <a:ext cx="2651760" cy="201168"/>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アウトプット</a:t>
            </a:r>
            <a:endParaRPr lang="en-US" sz="900" dirty="0"/>
          </a:p>
        </p:txBody>
      </p:sp>
      <p:sp>
        <p:nvSpPr>
          <p:cNvPr id="13" name="Shape 11"/>
          <p:cNvSpPr/>
          <p:nvPr/>
        </p:nvSpPr>
        <p:spPr>
          <a:xfrm>
            <a:off x="457200" y="3063240"/>
            <a:ext cx="2651760" cy="1143000"/>
          </a:xfrm>
          <a:prstGeom prst="rect">
            <a:avLst/>
          </a:prstGeom>
          <a:solidFill>
            <a:srgbClr val="FFFFFF"/>
          </a:solidFill>
          <a:ln w="25400">
            <a:solidFill>
              <a:srgbClr val="29BA74"/>
            </a:solidFill>
            <a:prstDash val="solid"/>
          </a:ln>
        </p:spPr>
      </p:sp>
      <p:sp>
        <p:nvSpPr>
          <p:cNvPr id="14" name="Text 12"/>
          <p:cNvSpPr/>
          <p:nvPr/>
        </p:nvSpPr>
        <p:spPr>
          <a:xfrm>
            <a:off x="548640" y="3108960"/>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・会員向けレポート（基本形）</a:t>
            </a:r>
            <a:endParaRPr lang="en-US" sz="1000" dirty="0"/>
          </a:p>
        </p:txBody>
      </p:sp>
      <p:sp>
        <p:nvSpPr>
          <p:cNvPr id="15" name="Text 13"/>
          <p:cNvSpPr/>
          <p:nvPr/>
        </p:nvSpPr>
        <p:spPr>
          <a:xfrm>
            <a:off x="548640" y="3456432"/>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・バックヤード相談用サマリ</a:t>
            </a:r>
            <a:endParaRPr lang="en-US" sz="1000" dirty="0"/>
          </a:p>
        </p:txBody>
      </p:sp>
      <p:sp>
        <p:nvSpPr>
          <p:cNvPr id="16" name="Text 14"/>
          <p:cNvSpPr/>
          <p:nvPr/>
        </p:nvSpPr>
        <p:spPr>
          <a:xfrm>
            <a:off x="548640" y="3803904"/>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・顧客カルテ（基本項目）</a:t>
            </a:r>
            <a:endParaRPr lang="en-US" sz="1000" dirty="0"/>
          </a:p>
        </p:txBody>
      </p:sp>
      <p:sp>
        <p:nvSpPr>
          <p:cNvPr id="17" name="Text 15"/>
          <p:cNvSpPr/>
          <p:nvPr/>
        </p:nvSpPr>
        <p:spPr>
          <a:xfrm>
            <a:off x="3108960" y="3063240"/>
            <a:ext cx="228600" cy="457200"/>
          </a:xfrm>
          <a:prstGeom prst="rect">
            <a:avLst/>
          </a:prstGeom>
          <a:noFill/>
          <a:ln/>
        </p:spPr>
        <p:txBody>
          <a:bodyPr wrap="square" rtlCol="0" anchor="ctr"/>
          <a:lstStyle/>
          <a:p>
            <a:pPr algn="ctr" indent="0" marL="0">
              <a:buNone/>
            </a:pPr>
            <a:r>
              <a:rPr lang="en-US" sz="1800" b="1" dirty="0">
                <a:solidFill>
                  <a:srgbClr val="29BA74"/>
                </a:solidFill>
                <a:latin typeface="Century Gothic" pitchFamily="34" charset="0"/>
                <a:ea typeface="Century Gothic" pitchFamily="34" charset="-122"/>
                <a:cs typeface="Century Gothic" pitchFamily="34" charset="-120"/>
              </a:rPr>
              <a:t>→</a:t>
            </a:r>
            <a:endParaRPr lang="en-US" sz="1800" dirty="0"/>
          </a:p>
        </p:txBody>
      </p:sp>
      <p:sp>
        <p:nvSpPr>
          <p:cNvPr id="18" name="Text 16"/>
          <p:cNvSpPr/>
          <p:nvPr/>
        </p:nvSpPr>
        <p:spPr>
          <a:xfrm>
            <a:off x="2834640" y="3520440"/>
            <a:ext cx="777240" cy="228600"/>
          </a:xfrm>
          <a:prstGeom prst="rect">
            <a:avLst/>
          </a:prstGeom>
          <a:noFill/>
          <a:ln/>
        </p:spPr>
        <p:txBody>
          <a:bodyPr wrap="square" rtlCol="0" anchor="ctr"/>
          <a:lstStyle/>
          <a:p>
            <a:pPr algn="ctr" indent="0" marL="0">
              <a:buNone/>
            </a:pPr>
            <a:r>
              <a:rPr lang="en-US" sz="800" dirty="0">
                <a:solidFill>
                  <a:srgbClr val="A6A6A6"/>
                </a:solidFill>
                <a:latin typeface="Century Gothic" pitchFamily="34" charset="0"/>
                <a:ea typeface="Century Gothic" pitchFamily="34" charset="-122"/>
                <a:cs typeface="Century Gothic" pitchFamily="34" charset="-120"/>
              </a:rPr>
              <a:t>Go/No-Go</a:t>
            </a:r>
            <a:endParaRPr lang="en-US" sz="800" dirty="0"/>
          </a:p>
        </p:txBody>
      </p:sp>
      <p:sp>
        <p:nvSpPr>
          <p:cNvPr id="19" name="Shape 17"/>
          <p:cNvSpPr/>
          <p:nvPr/>
        </p:nvSpPr>
        <p:spPr>
          <a:xfrm>
            <a:off x="3337560" y="1417320"/>
            <a:ext cx="2651760" cy="347472"/>
          </a:xfrm>
          <a:prstGeom prst="rect">
            <a:avLst/>
          </a:prstGeom>
          <a:solidFill>
            <a:srgbClr val="A6A6A6"/>
          </a:solidFill>
          <a:ln/>
        </p:spPr>
      </p:sp>
      <p:sp>
        <p:nvSpPr>
          <p:cNvPr id="20" name="Text 18"/>
          <p:cNvSpPr/>
          <p:nvPr/>
        </p:nvSpPr>
        <p:spPr>
          <a:xfrm>
            <a:off x="3337560" y="1417320"/>
            <a:ext cx="2651760" cy="347472"/>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Phase 2</a:t>
            </a:r>
            <a:endParaRPr lang="en-US" sz="1200" dirty="0"/>
          </a:p>
        </p:txBody>
      </p:sp>
      <p:sp>
        <p:nvSpPr>
          <p:cNvPr id="21" name="Text 19"/>
          <p:cNvSpPr/>
          <p:nvPr/>
        </p:nvSpPr>
        <p:spPr>
          <a:xfrm>
            <a:off x="3337560" y="1828800"/>
            <a:ext cx="2651760" cy="292608"/>
          </a:xfrm>
          <a:prstGeom prst="rect">
            <a:avLst/>
          </a:prstGeom>
          <a:noFill/>
          <a:ln/>
        </p:spPr>
        <p:txBody>
          <a:bodyPr wrap="square" rtlCol="0" anchor="ctr"/>
          <a:lstStyle/>
          <a:p>
            <a:pPr algn="ctr" indent="0" marL="0">
              <a:buNone/>
            </a:pPr>
            <a:r>
              <a:rPr lang="en-US" sz="1200" b="1" dirty="0">
                <a:solidFill>
                  <a:srgbClr val="404040"/>
                </a:solidFill>
                <a:latin typeface="Meiryo UI" pitchFamily="34" charset="0"/>
                <a:ea typeface="Meiryo UI" pitchFamily="34" charset="-122"/>
                <a:cs typeface="Meiryo UI" pitchFamily="34" charset="-120"/>
              </a:rPr>
              <a:t>品質強化・機能拡充</a:t>
            </a:r>
            <a:endParaRPr lang="en-US" sz="1200" dirty="0"/>
          </a:p>
        </p:txBody>
      </p:sp>
      <p:sp>
        <p:nvSpPr>
          <p:cNvPr id="22" name="Text 20"/>
          <p:cNvSpPr/>
          <p:nvPr/>
        </p:nvSpPr>
        <p:spPr>
          <a:xfrm>
            <a:off x="3337560" y="2121408"/>
            <a:ext cx="2651760" cy="201168"/>
          </a:xfrm>
          <a:prstGeom prst="rect">
            <a:avLst/>
          </a:prstGeom>
          <a:noFill/>
          <a:ln/>
        </p:spPr>
        <p:txBody>
          <a:bodyPr wrap="square" rtlCol="0" anchor="ctr"/>
          <a:lstStyle/>
          <a:p>
            <a:pPr algn="ctr" indent="0" marL="0">
              <a:buNone/>
            </a:pPr>
            <a:r>
              <a:rPr lang="en-US" sz="1000" dirty="0">
                <a:solidFill>
                  <a:srgbClr val="A6A6A6"/>
                </a:solidFill>
                <a:latin typeface="Meiryo UI" pitchFamily="34" charset="0"/>
                <a:ea typeface="Meiryo UI" pitchFamily="34" charset="-122"/>
                <a:cs typeface="Meiryo UI" pitchFamily="34" charset="-120"/>
              </a:rPr>
              <a:t>〜6月末</a:t>
            </a:r>
            <a:endParaRPr lang="en-US" sz="1000" dirty="0"/>
          </a:p>
        </p:txBody>
      </p:sp>
      <p:sp>
        <p:nvSpPr>
          <p:cNvPr id="23" name="Shape 21"/>
          <p:cNvSpPr/>
          <p:nvPr/>
        </p:nvSpPr>
        <p:spPr>
          <a:xfrm>
            <a:off x="3337560" y="2377440"/>
            <a:ext cx="2651760" cy="411480"/>
          </a:xfrm>
          <a:prstGeom prst="rect">
            <a:avLst/>
          </a:prstGeom>
          <a:solidFill>
            <a:srgbClr val="F5F5F5"/>
          </a:solidFill>
          <a:ln/>
        </p:spPr>
      </p:sp>
      <p:sp>
        <p:nvSpPr>
          <p:cNvPr id="24" name="Text 22"/>
          <p:cNvSpPr/>
          <p:nvPr/>
        </p:nvSpPr>
        <p:spPr>
          <a:xfrm>
            <a:off x="3429000" y="2377440"/>
            <a:ext cx="2468880" cy="41148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対象: スタートアップセミナー</a:t>
            </a:r>
            <a:endParaRPr lang="en-US" sz="1000" dirty="0"/>
          </a:p>
        </p:txBody>
      </p:sp>
      <p:sp>
        <p:nvSpPr>
          <p:cNvPr id="25" name="Text 23"/>
          <p:cNvSpPr/>
          <p:nvPr/>
        </p:nvSpPr>
        <p:spPr>
          <a:xfrm>
            <a:off x="3337560" y="2862072"/>
            <a:ext cx="2651760" cy="201168"/>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アウトプット</a:t>
            </a:r>
            <a:endParaRPr lang="en-US" sz="900" dirty="0"/>
          </a:p>
        </p:txBody>
      </p:sp>
      <p:sp>
        <p:nvSpPr>
          <p:cNvPr id="26" name="Shape 24"/>
          <p:cNvSpPr/>
          <p:nvPr/>
        </p:nvSpPr>
        <p:spPr>
          <a:xfrm>
            <a:off x="3337560" y="3063240"/>
            <a:ext cx="2651760" cy="1143000"/>
          </a:xfrm>
          <a:prstGeom prst="rect">
            <a:avLst/>
          </a:prstGeom>
          <a:solidFill>
            <a:srgbClr val="FFFFFF"/>
          </a:solidFill>
          <a:ln w="12700">
            <a:solidFill>
              <a:srgbClr val="E0E0E0"/>
            </a:solidFill>
            <a:prstDash val="solid"/>
          </a:ln>
        </p:spPr>
      </p:sp>
      <p:sp>
        <p:nvSpPr>
          <p:cNvPr id="27" name="Text 25"/>
          <p:cNvSpPr/>
          <p:nvPr/>
        </p:nvSpPr>
        <p:spPr>
          <a:xfrm>
            <a:off x="3429000" y="3108960"/>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・会員向けレポート（エンタメ強化）</a:t>
            </a:r>
            <a:endParaRPr lang="en-US" sz="1000" dirty="0"/>
          </a:p>
        </p:txBody>
      </p:sp>
      <p:sp>
        <p:nvSpPr>
          <p:cNvPr id="28" name="Text 26"/>
          <p:cNvSpPr/>
          <p:nvPr/>
        </p:nvSpPr>
        <p:spPr>
          <a:xfrm>
            <a:off x="3429000" y="3456432"/>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・推薦文生成</a:t>
            </a:r>
            <a:endParaRPr lang="en-US" sz="1000" dirty="0"/>
          </a:p>
        </p:txBody>
      </p:sp>
      <p:sp>
        <p:nvSpPr>
          <p:cNvPr id="29" name="Text 27"/>
          <p:cNvSpPr/>
          <p:nvPr/>
        </p:nvSpPr>
        <p:spPr>
          <a:xfrm>
            <a:off x="3429000" y="3803904"/>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・深掘り自動提示</a:t>
            </a:r>
            <a:endParaRPr lang="en-US" sz="1000" dirty="0"/>
          </a:p>
        </p:txBody>
      </p:sp>
      <p:sp>
        <p:nvSpPr>
          <p:cNvPr id="30" name="Text 28"/>
          <p:cNvSpPr/>
          <p:nvPr/>
        </p:nvSpPr>
        <p:spPr>
          <a:xfrm>
            <a:off x="5989320" y="3063240"/>
            <a:ext cx="228600" cy="457200"/>
          </a:xfrm>
          <a:prstGeom prst="rect">
            <a:avLst/>
          </a:prstGeom>
          <a:noFill/>
          <a:ln/>
        </p:spPr>
        <p:txBody>
          <a:bodyPr wrap="square" rtlCol="0" anchor="ctr"/>
          <a:lstStyle/>
          <a:p>
            <a:pPr algn="ctr" indent="0" marL="0">
              <a:buNone/>
            </a:pPr>
            <a:r>
              <a:rPr lang="en-US" sz="1800" b="1" dirty="0">
                <a:solidFill>
                  <a:srgbClr val="29BA74"/>
                </a:solidFill>
                <a:latin typeface="Century Gothic" pitchFamily="34" charset="0"/>
                <a:ea typeface="Century Gothic" pitchFamily="34" charset="-122"/>
                <a:cs typeface="Century Gothic" pitchFamily="34" charset="-120"/>
              </a:rPr>
              <a:t>→</a:t>
            </a:r>
            <a:endParaRPr lang="en-US" sz="1800" dirty="0"/>
          </a:p>
        </p:txBody>
      </p:sp>
      <p:sp>
        <p:nvSpPr>
          <p:cNvPr id="31" name="Text 29"/>
          <p:cNvSpPr/>
          <p:nvPr/>
        </p:nvSpPr>
        <p:spPr>
          <a:xfrm>
            <a:off x="5715000" y="3520440"/>
            <a:ext cx="777240" cy="228600"/>
          </a:xfrm>
          <a:prstGeom prst="rect">
            <a:avLst/>
          </a:prstGeom>
          <a:noFill/>
          <a:ln/>
        </p:spPr>
        <p:txBody>
          <a:bodyPr wrap="square" rtlCol="0" anchor="ctr"/>
          <a:lstStyle/>
          <a:p>
            <a:pPr algn="ctr" indent="0" marL="0">
              <a:buNone/>
            </a:pPr>
            <a:r>
              <a:rPr lang="en-US" sz="800" dirty="0">
                <a:solidFill>
                  <a:srgbClr val="A6A6A6"/>
                </a:solidFill>
                <a:latin typeface="Century Gothic" pitchFamily="34" charset="0"/>
                <a:ea typeface="Century Gothic" pitchFamily="34" charset="-122"/>
                <a:cs typeface="Century Gothic" pitchFamily="34" charset="-120"/>
              </a:rPr>
              <a:t>Go/No-Go</a:t>
            </a:r>
            <a:endParaRPr lang="en-US" sz="800" dirty="0"/>
          </a:p>
        </p:txBody>
      </p:sp>
      <p:sp>
        <p:nvSpPr>
          <p:cNvPr id="32" name="Shape 30"/>
          <p:cNvSpPr/>
          <p:nvPr/>
        </p:nvSpPr>
        <p:spPr>
          <a:xfrm>
            <a:off x="6217920" y="1417320"/>
            <a:ext cx="2651760" cy="347472"/>
          </a:xfrm>
          <a:prstGeom prst="rect">
            <a:avLst/>
          </a:prstGeom>
          <a:solidFill>
            <a:srgbClr val="A6A6A6"/>
          </a:solidFill>
          <a:ln/>
        </p:spPr>
      </p:sp>
      <p:sp>
        <p:nvSpPr>
          <p:cNvPr id="33" name="Text 31"/>
          <p:cNvSpPr/>
          <p:nvPr/>
        </p:nvSpPr>
        <p:spPr>
          <a:xfrm>
            <a:off x="6217920" y="1417320"/>
            <a:ext cx="2651760" cy="347472"/>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Phase 3</a:t>
            </a:r>
            <a:endParaRPr lang="en-US" sz="1200" dirty="0"/>
          </a:p>
        </p:txBody>
      </p:sp>
      <p:sp>
        <p:nvSpPr>
          <p:cNvPr id="34" name="Text 32"/>
          <p:cNvSpPr/>
          <p:nvPr/>
        </p:nvSpPr>
        <p:spPr>
          <a:xfrm>
            <a:off x="6217920" y="1828800"/>
            <a:ext cx="2651760" cy="292608"/>
          </a:xfrm>
          <a:prstGeom prst="rect">
            <a:avLst/>
          </a:prstGeom>
          <a:noFill/>
          <a:ln/>
        </p:spPr>
        <p:txBody>
          <a:bodyPr wrap="square" rtlCol="0" anchor="ctr"/>
          <a:lstStyle/>
          <a:p>
            <a:pPr algn="ctr" indent="0" marL="0">
              <a:buNone/>
            </a:pPr>
            <a:r>
              <a:rPr lang="en-US" sz="1200" b="1" dirty="0">
                <a:solidFill>
                  <a:srgbClr val="404040"/>
                </a:solidFill>
                <a:latin typeface="Meiryo UI" pitchFamily="34" charset="0"/>
                <a:ea typeface="Meiryo UI" pitchFamily="34" charset="-122"/>
                <a:cs typeface="Meiryo UI" pitchFamily="34" charset="-120"/>
              </a:rPr>
              <a:t>全体最適・高度化</a:t>
            </a:r>
            <a:endParaRPr lang="en-US" sz="1200" dirty="0"/>
          </a:p>
        </p:txBody>
      </p:sp>
      <p:sp>
        <p:nvSpPr>
          <p:cNvPr id="35" name="Text 33"/>
          <p:cNvSpPr/>
          <p:nvPr/>
        </p:nvSpPr>
        <p:spPr>
          <a:xfrm>
            <a:off x="6217920" y="2121408"/>
            <a:ext cx="2651760" cy="201168"/>
          </a:xfrm>
          <a:prstGeom prst="rect">
            <a:avLst/>
          </a:prstGeom>
          <a:noFill/>
          <a:ln/>
        </p:spPr>
        <p:txBody>
          <a:bodyPr wrap="square" rtlCol="0" anchor="ctr"/>
          <a:lstStyle/>
          <a:p>
            <a:pPr algn="ctr" indent="0" marL="0">
              <a:buNone/>
            </a:pPr>
            <a:r>
              <a:rPr lang="en-US" sz="1000" dirty="0">
                <a:solidFill>
                  <a:srgbClr val="A6A6A6"/>
                </a:solidFill>
                <a:latin typeface="Meiryo UI" pitchFamily="34" charset="0"/>
                <a:ea typeface="Meiryo UI" pitchFamily="34" charset="-122"/>
                <a:cs typeface="Meiryo UI" pitchFamily="34" charset="-120"/>
              </a:rPr>
              <a:t>7月以降</a:t>
            </a:r>
            <a:endParaRPr lang="en-US" sz="1000" dirty="0"/>
          </a:p>
        </p:txBody>
      </p:sp>
      <p:sp>
        <p:nvSpPr>
          <p:cNvPr id="36" name="Shape 34"/>
          <p:cNvSpPr/>
          <p:nvPr/>
        </p:nvSpPr>
        <p:spPr>
          <a:xfrm>
            <a:off x="6217920" y="2377440"/>
            <a:ext cx="2651760" cy="411480"/>
          </a:xfrm>
          <a:prstGeom prst="rect">
            <a:avLst/>
          </a:prstGeom>
          <a:solidFill>
            <a:srgbClr val="F5F5F5"/>
          </a:solidFill>
          <a:ln/>
        </p:spPr>
      </p:sp>
      <p:sp>
        <p:nvSpPr>
          <p:cNvPr id="37" name="Text 35"/>
          <p:cNvSpPr/>
          <p:nvPr/>
        </p:nvSpPr>
        <p:spPr>
          <a:xfrm>
            <a:off x="6309360" y="2377440"/>
            <a:ext cx="2468880" cy="41148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対象: 会員サポート全般</a:t>
            </a:r>
            <a:endParaRPr lang="en-US" sz="1000" dirty="0"/>
          </a:p>
        </p:txBody>
      </p:sp>
      <p:sp>
        <p:nvSpPr>
          <p:cNvPr id="38" name="Text 36"/>
          <p:cNvSpPr/>
          <p:nvPr/>
        </p:nvSpPr>
        <p:spPr>
          <a:xfrm>
            <a:off x="6217920" y="2862072"/>
            <a:ext cx="2651760" cy="201168"/>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アウトプット</a:t>
            </a:r>
            <a:endParaRPr lang="en-US" sz="900" dirty="0"/>
          </a:p>
        </p:txBody>
      </p:sp>
      <p:sp>
        <p:nvSpPr>
          <p:cNvPr id="39" name="Shape 37"/>
          <p:cNvSpPr/>
          <p:nvPr/>
        </p:nvSpPr>
        <p:spPr>
          <a:xfrm>
            <a:off x="6217920" y="3063240"/>
            <a:ext cx="2651760" cy="1143000"/>
          </a:xfrm>
          <a:prstGeom prst="rect">
            <a:avLst/>
          </a:prstGeom>
          <a:solidFill>
            <a:srgbClr val="FFFFFF"/>
          </a:solidFill>
          <a:ln w="12700">
            <a:solidFill>
              <a:srgbClr val="E0E0E0"/>
            </a:solidFill>
            <a:prstDash val="solid"/>
          </a:ln>
        </p:spPr>
      </p:sp>
      <p:sp>
        <p:nvSpPr>
          <p:cNvPr id="40" name="Text 38"/>
          <p:cNvSpPr/>
          <p:nvPr/>
        </p:nvSpPr>
        <p:spPr>
          <a:xfrm>
            <a:off x="6309360" y="3108960"/>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・パーソナライズ高度化</a:t>
            </a:r>
            <a:endParaRPr lang="en-US" sz="1000" dirty="0"/>
          </a:p>
        </p:txBody>
      </p:sp>
      <p:sp>
        <p:nvSpPr>
          <p:cNvPr id="41" name="Text 39"/>
          <p:cNvSpPr/>
          <p:nvPr/>
        </p:nvSpPr>
        <p:spPr>
          <a:xfrm>
            <a:off x="6309360" y="3456432"/>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・退会兆候スコア</a:t>
            </a:r>
            <a:endParaRPr lang="en-US" sz="1000" dirty="0"/>
          </a:p>
        </p:txBody>
      </p:sp>
      <p:sp>
        <p:nvSpPr>
          <p:cNvPr id="42" name="Text 40"/>
          <p:cNvSpPr/>
          <p:nvPr/>
        </p:nvSpPr>
        <p:spPr>
          <a:xfrm>
            <a:off x="6309360" y="3803904"/>
            <a:ext cx="2468880" cy="320040"/>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・アドバイザーコーチング</a:t>
            </a:r>
            <a:endParaRPr lang="en-US" sz="1000" dirty="0"/>
          </a:p>
        </p:txBody>
      </p:sp>
      <p:sp>
        <p:nvSpPr>
          <p:cNvPr id="43" name="Text 41"/>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44" name="Text 42"/>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03 取り組み範囲・ロードマップ</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Century Gothic" pitchFamily="34" charset="0"/>
                <a:ea typeface="Century Gothic" pitchFamily="34" charset="-122"/>
                <a:cs typeface="Century Gothic" pitchFamily="34" charset="-120"/>
              </a:rPr>
              <a:t>Phase</a:t>
            </a:r>
            <a:pPr indent="0" marL="0">
              <a:buNone/>
            </a:pPr>
            <a:r>
              <a:rPr lang="en-US" sz="2000" dirty="0">
                <a:solidFill>
                  <a:srgbClr val="404040"/>
                </a:solidFill>
                <a:latin typeface="Meiryo UI" pitchFamily="34" charset="0"/>
                <a:ea typeface="Meiryo UI" pitchFamily="34" charset="-122"/>
                <a:cs typeface="Meiryo UI" pitchFamily="34" charset="-120"/>
              </a:rPr>
              <a:t xml:space="preserve"> </a:t>
            </a:r>
            <a:pPr indent="0" marL="0">
              <a:buNone/>
            </a:pPr>
            <a:r>
              <a:rPr lang="en-US" sz="2000" dirty="0">
                <a:solidFill>
                  <a:srgbClr val="404040"/>
                </a:solidFill>
                <a:latin typeface="Century Gothic" pitchFamily="34" charset="0"/>
                <a:ea typeface="Century Gothic" pitchFamily="34" charset="-122"/>
                <a:cs typeface="Century Gothic" pitchFamily="34" charset="-120"/>
              </a:rPr>
              <a:t>1</a:t>
            </a:r>
            <a:pPr indent="0" marL="0">
              <a:buNone/>
            </a:pPr>
            <a:r>
              <a:rPr lang="en-US" sz="2000" dirty="0">
                <a:solidFill>
                  <a:srgbClr val="404040"/>
                </a:solidFill>
                <a:latin typeface="Meiryo UI" pitchFamily="34" charset="0"/>
                <a:ea typeface="Meiryo UI" pitchFamily="34" charset="-122"/>
                <a:cs typeface="Meiryo UI" pitchFamily="34" charset="-120"/>
              </a:rPr>
              <a:t>で提供する機能</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録音許諾からレポート生成、データ蓄積までの基本サイクルを構築する。</a:t>
            </a:r>
            <a:endParaRPr lang="en-US" sz="1400" dirty="0"/>
          </a:p>
        </p:txBody>
      </p:sp>
      <p:sp>
        <p:nvSpPr>
          <p:cNvPr id="6" name="Shape 4"/>
          <p:cNvSpPr/>
          <p:nvPr/>
        </p:nvSpPr>
        <p:spPr>
          <a:xfrm>
            <a:off x="457200" y="1417320"/>
            <a:ext cx="292608" cy="292608"/>
          </a:xfrm>
          <a:prstGeom prst="ellipse">
            <a:avLst/>
          </a:prstGeom>
          <a:solidFill>
            <a:srgbClr val="29BA74"/>
          </a:solidFill>
          <a:ln/>
        </p:spPr>
      </p:sp>
      <p:sp>
        <p:nvSpPr>
          <p:cNvPr id="7" name="Text 5"/>
          <p:cNvSpPr/>
          <p:nvPr/>
        </p:nvSpPr>
        <p:spPr>
          <a:xfrm>
            <a:off x="457200" y="1417320"/>
            <a:ext cx="292608"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1</a:t>
            </a:r>
            <a:endParaRPr lang="en-US" sz="1000" dirty="0"/>
          </a:p>
        </p:txBody>
      </p:sp>
      <p:sp>
        <p:nvSpPr>
          <p:cNvPr id="8" name="Text 6"/>
          <p:cNvSpPr/>
          <p:nvPr/>
        </p:nvSpPr>
        <p:spPr>
          <a:xfrm>
            <a:off x="868680" y="1417320"/>
            <a:ext cx="7772400" cy="292608"/>
          </a:xfrm>
          <a:prstGeom prst="rect">
            <a:avLst/>
          </a:prstGeom>
          <a:noFill/>
          <a:ln/>
        </p:spPr>
        <p:txBody>
          <a:bodyPr wrap="square" rtlCol="0" anchor="ctr"/>
          <a:lstStyle/>
          <a:p>
            <a:pPr indent="0" marL="0">
              <a:buNone/>
            </a:pPr>
            <a:r>
              <a:rPr lang="en-US" sz="1100" b="1" dirty="0">
                <a:solidFill>
                  <a:srgbClr val="404040"/>
                </a:solidFill>
                <a:latin typeface="Meiryo UI" pitchFamily="34" charset="0"/>
                <a:ea typeface="Meiryo UI" pitchFamily="34" charset="-122"/>
                <a:cs typeface="Meiryo UI" pitchFamily="34" charset="-120"/>
              </a:rPr>
              <a:t>同意取得フロー（オプトイン）</a:t>
            </a:r>
            <a:endParaRPr lang="en-US" sz="1100" dirty="0"/>
          </a:p>
        </p:txBody>
      </p:sp>
      <p:sp>
        <p:nvSpPr>
          <p:cNvPr id="9" name="Text 7"/>
          <p:cNvSpPr/>
          <p:nvPr/>
        </p:nvSpPr>
        <p:spPr>
          <a:xfrm>
            <a:off x="1005840" y="1691640"/>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・録音可否の選択（可：レポート提供／否：従来運用）</a:t>
            </a:r>
            <a:endParaRPr lang="en-US" sz="900" dirty="0"/>
          </a:p>
        </p:txBody>
      </p:sp>
      <p:sp>
        <p:nvSpPr>
          <p:cNvPr id="10" name="Text 8"/>
          <p:cNvSpPr/>
          <p:nvPr/>
        </p:nvSpPr>
        <p:spPr>
          <a:xfrm>
            <a:off x="1005840" y="1874520"/>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・会員メリット：面談内容を整理したレポート提供</a:t>
            </a:r>
            <a:endParaRPr lang="en-US" sz="900" dirty="0"/>
          </a:p>
        </p:txBody>
      </p:sp>
      <p:sp>
        <p:nvSpPr>
          <p:cNvPr id="11" name="Text 9"/>
          <p:cNvSpPr/>
          <p:nvPr/>
        </p:nvSpPr>
        <p:spPr>
          <a:xfrm>
            <a:off x="1005840" y="2057400"/>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・アドバイザーメリット：メモ取り不要、相談効率化</a:t>
            </a:r>
            <a:endParaRPr lang="en-US" sz="900" dirty="0"/>
          </a:p>
        </p:txBody>
      </p:sp>
      <p:sp>
        <p:nvSpPr>
          <p:cNvPr id="12" name="Shape 10"/>
          <p:cNvSpPr/>
          <p:nvPr/>
        </p:nvSpPr>
        <p:spPr>
          <a:xfrm>
            <a:off x="457200" y="2304288"/>
            <a:ext cx="292608" cy="292608"/>
          </a:xfrm>
          <a:prstGeom prst="ellipse">
            <a:avLst/>
          </a:prstGeom>
          <a:solidFill>
            <a:srgbClr val="29BA74"/>
          </a:solidFill>
          <a:ln/>
        </p:spPr>
      </p:sp>
      <p:sp>
        <p:nvSpPr>
          <p:cNvPr id="13" name="Text 11"/>
          <p:cNvSpPr/>
          <p:nvPr/>
        </p:nvSpPr>
        <p:spPr>
          <a:xfrm>
            <a:off x="457200" y="2304288"/>
            <a:ext cx="292608"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2</a:t>
            </a:r>
            <a:endParaRPr lang="en-US" sz="1000" dirty="0"/>
          </a:p>
        </p:txBody>
      </p:sp>
      <p:sp>
        <p:nvSpPr>
          <p:cNvPr id="14" name="Text 12"/>
          <p:cNvSpPr/>
          <p:nvPr/>
        </p:nvSpPr>
        <p:spPr>
          <a:xfrm>
            <a:off x="868680" y="2304288"/>
            <a:ext cx="7772400" cy="292608"/>
          </a:xfrm>
          <a:prstGeom prst="rect">
            <a:avLst/>
          </a:prstGeom>
          <a:noFill/>
          <a:ln/>
        </p:spPr>
        <p:txBody>
          <a:bodyPr wrap="square" rtlCol="0" anchor="ctr"/>
          <a:lstStyle/>
          <a:p>
            <a:pPr indent="0" marL="0">
              <a:buNone/>
            </a:pPr>
            <a:r>
              <a:rPr lang="en-US" sz="1100" b="1" dirty="0">
                <a:solidFill>
                  <a:srgbClr val="404040"/>
                </a:solidFill>
                <a:latin typeface="Meiryo UI" pitchFamily="34" charset="0"/>
                <a:ea typeface="Meiryo UI" pitchFamily="34" charset="-122"/>
                <a:cs typeface="Meiryo UI" pitchFamily="34" charset="-120"/>
              </a:rPr>
              <a:t>録音→文字起こし→要約→構造化</a:t>
            </a:r>
            <a:endParaRPr lang="en-US" sz="1100" dirty="0"/>
          </a:p>
        </p:txBody>
      </p:sp>
      <p:sp>
        <p:nvSpPr>
          <p:cNvPr id="15" name="Text 13"/>
          <p:cNvSpPr/>
          <p:nvPr/>
        </p:nvSpPr>
        <p:spPr>
          <a:xfrm>
            <a:off x="1005840" y="2578608"/>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・面談音声から議事録/要約を自動生成</a:t>
            </a:r>
            <a:endParaRPr lang="en-US" sz="900" dirty="0"/>
          </a:p>
        </p:txBody>
      </p:sp>
      <p:sp>
        <p:nvSpPr>
          <p:cNvPr id="16" name="Text 14"/>
          <p:cNvSpPr/>
          <p:nvPr/>
        </p:nvSpPr>
        <p:spPr>
          <a:xfrm>
            <a:off x="1005840" y="2761488"/>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・カルテ項目への自動抽出</a:t>
            </a:r>
            <a:endParaRPr lang="en-US" sz="900" dirty="0"/>
          </a:p>
        </p:txBody>
      </p:sp>
      <p:sp>
        <p:nvSpPr>
          <p:cNvPr id="17" name="Shape 15"/>
          <p:cNvSpPr/>
          <p:nvPr/>
        </p:nvSpPr>
        <p:spPr>
          <a:xfrm>
            <a:off x="457200" y="3008376"/>
            <a:ext cx="292608" cy="292608"/>
          </a:xfrm>
          <a:prstGeom prst="ellipse">
            <a:avLst/>
          </a:prstGeom>
          <a:solidFill>
            <a:srgbClr val="29BA74"/>
          </a:solidFill>
          <a:ln/>
        </p:spPr>
      </p:sp>
      <p:sp>
        <p:nvSpPr>
          <p:cNvPr id="18" name="Text 16"/>
          <p:cNvSpPr/>
          <p:nvPr/>
        </p:nvSpPr>
        <p:spPr>
          <a:xfrm>
            <a:off x="457200" y="3008376"/>
            <a:ext cx="292608"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3</a:t>
            </a:r>
            <a:endParaRPr lang="en-US" sz="1000" dirty="0"/>
          </a:p>
        </p:txBody>
      </p:sp>
      <p:sp>
        <p:nvSpPr>
          <p:cNvPr id="19" name="Text 17"/>
          <p:cNvSpPr/>
          <p:nvPr/>
        </p:nvSpPr>
        <p:spPr>
          <a:xfrm>
            <a:off x="868680" y="3008376"/>
            <a:ext cx="7772400" cy="292608"/>
          </a:xfrm>
          <a:prstGeom prst="rect">
            <a:avLst/>
          </a:prstGeom>
          <a:noFill/>
          <a:ln/>
        </p:spPr>
        <p:txBody>
          <a:bodyPr wrap="square" rtlCol="0" anchor="ctr"/>
          <a:lstStyle/>
          <a:p>
            <a:pPr indent="0" marL="0">
              <a:buNone/>
            </a:pPr>
            <a:r>
              <a:rPr lang="en-US" sz="1100" b="1" dirty="0">
                <a:solidFill>
                  <a:srgbClr val="404040"/>
                </a:solidFill>
                <a:latin typeface="Meiryo UI" pitchFamily="34" charset="0"/>
                <a:ea typeface="Meiryo UI" pitchFamily="34" charset="-122"/>
                <a:cs typeface="Meiryo UI" pitchFamily="34" charset="-120"/>
              </a:rPr>
              <a:t>バックヤード相談用サマリ生成</a:t>
            </a:r>
            <a:endParaRPr lang="en-US" sz="1100" dirty="0"/>
          </a:p>
        </p:txBody>
      </p:sp>
      <p:sp>
        <p:nvSpPr>
          <p:cNvPr id="20" name="Text 18"/>
          <p:cNvSpPr/>
          <p:nvPr/>
        </p:nvSpPr>
        <p:spPr>
          <a:xfrm>
            <a:off x="1005840" y="3282696"/>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・面談途中の要約を支社長と即時共有</a:t>
            </a:r>
            <a:endParaRPr lang="en-US" sz="900" dirty="0"/>
          </a:p>
        </p:txBody>
      </p:sp>
      <p:sp>
        <p:nvSpPr>
          <p:cNvPr id="21" name="Text 19"/>
          <p:cNvSpPr/>
          <p:nvPr/>
        </p:nvSpPr>
        <p:spPr>
          <a:xfrm>
            <a:off x="1005840" y="3465576"/>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・相談時間の短縮</a:t>
            </a:r>
            <a:endParaRPr lang="en-US" sz="900" dirty="0"/>
          </a:p>
        </p:txBody>
      </p:sp>
      <p:sp>
        <p:nvSpPr>
          <p:cNvPr id="22" name="Shape 20"/>
          <p:cNvSpPr/>
          <p:nvPr/>
        </p:nvSpPr>
        <p:spPr>
          <a:xfrm>
            <a:off x="457200" y="3712464"/>
            <a:ext cx="292608" cy="292608"/>
          </a:xfrm>
          <a:prstGeom prst="ellipse">
            <a:avLst/>
          </a:prstGeom>
          <a:solidFill>
            <a:srgbClr val="29BA74"/>
          </a:solidFill>
          <a:ln/>
        </p:spPr>
      </p:sp>
      <p:sp>
        <p:nvSpPr>
          <p:cNvPr id="23" name="Text 21"/>
          <p:cNvSpPr/>
          <p:nvPr/>
        </p:nvSpPr>
        <p:spPr>
          <a:xfrm>
            <a:off x="457200" y="3712464"/>
            <a:ext cx="292608"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4</a:t>
            </a:r>
            <a:endParaRPr lang="en-US" sz="1000" dirty="0"/>
          </a:p>
        </p:txBody>
      </p:sp>
      <p:sp>
        <p:nvSpPr>
          <p:cNvPr id="24" name="Text 22"/>
          <p:cNvSpPr/>
          <p:nvPr/>
        </p:nvSpPr>
        <p:spPr>
          <a:xfrm>
            <a:off x="868680" y="3712464"/>
            <a:ext cx="7772400" cy="292608"/>
          </a:xfrm>
          <a:prstGeom prst="rect">
            <a:avLst/>
          </a:prstGeom>
          <a:noFill/>
          <a:ln/>
        </p:spPr>
        <p:txBody>
          <a:bodyPr wrap="square" rtlCol="0" anchor="ctr"/>
          <a:lstStyle/>
          <a:p>
            <a:pPr indent="0" marL="0">
              <a:buNone/>
            </a:pPr>
            <a:r>
              <a:rPr lang="en-US" sz="1100" b="1" dirty="0">
                <a:solidFill>
                  <a:srgbClr val="404040"/>
                </a:solidFill>
                <a:latin typeface="Meiryo UI" pitchFamily="34" charset="0"/>
                <a:ea typeface="Meiryo UI" pitchFamily="34" charset="-122"/>
                <a:cs typeface="Meiryo UI" pitchFamily="34" charset="-120"/>
              </a:rPr>
              <a:t>会員向け面談レポートの自動生成</a:t>
            </a:r>
            <a:endParaRPr lang="en-US" sz="1100" dirty="0"/>
          </a:p>
        </p:txBody>
      </p:sp>
      <p:sp>
        <p:nvSpPr>
          <p:cNvPr id="25" name="Shape 23"/>
          <p:cNvSpPr/>
          <p:nvPr/>
        </p:nvSpPr>
        <p:spPr>
          <a:xfrm>
            <a:off x="457200" y="4050792"/>
            <a:ext cx="292608" cy="292608"/>
          </a:xfrm>
          <a:prstGeom prst="ellipse">
            <a:avLst/>
          </a:prstGeom>
          <a:solidFill>
            <a:srgbClr val="29BA74"/>
          </a:solidFill>
          <a:ln/>
        </p:spPr>
      </p:sp>
      <p:sp>
        <p:nvSpPr>
          <p:cNvPr id="26" name="Text 24"/>
          <p:cNvSpPr/>
          <p:nvPr/>
        </p:nvSpPr>
        <p:spPr>
          <a:xfrm>
            <a:off x="457200" y="4050792"/>
            <a:ext cx="292608" cy="292608"/>
          </a:xfrm>
          <a:prstGeom prst="rect">
            <a:avLst/>
          </a:prstGeom>
          <a:noFill/>
          <a:ln/>
        </p:spPr>
        <p:txBody>
          <a:bodyPr wrap="square" rtlCol="0" anchor="ctr"/>
          <a:lstStyle/>
          <a:p>
            <a:pPr algn="ctr" indent="0" marL="0">
              <a:buNone/>
            </a:pPr>
            <a:r>
              <a:rPr lang="en-US" sz="1000" dirty="0">
                <a:solidFill>
                  <a:srgbClr val="FFFFFF"/>
                </a:solidFill>
                <a:latin typeface="Century Gothic" pitchFamily="34" charset="0"/>
                <a:ea typeface="Century Gothic" pitchFamily="34" charset="-122"/>
                <a:cs typeface="Century Gothic" pitchFamily="34" charset="-120"/>
              </a:rPr>
              <a:t>5</a:t>
            </a:r>
            <a:endParaRPr lang="en-US" sz="1000" dirty="0"/>
          </a:p>
        </p:txBody>
      </p:sp>
      <p:sp>
        <p:nvSpPr>
          <p:cNvPr id="27" name="Text 25"/>
          <p:cNvSpPr/>
          <p:nvPr/>
        </p:nvSpPr>
        <p:spPr>
          <a:xfrm>
            <a:off x="868680" y="4050792"/>
            <a:ext cx="7772400" cy="292608"/>
          </a:xfrm>
          <a:prstGeom prst="rect">
            <a:avLst/>
          </a:prstGeom>
          <a:noFill/>
          <a:ln/>
        </p:spPr>
        <p:txBody>
          <a:bodyPr wrap="square" rtlCol="0" anchor="ctr"/>
          <a:lstStyle/>
          <a:p>
            <a:pPr indent="0" marL="0">
              <a:buNone/>
            </a:pPr>
            <a:r>
              <a:rPr lang="en-US" sz="1100" b="1" dirty="0">
                <a:solidFill>
                  <a:srgbClr val="404040"/>
                </a:solidFill>
                <a:latin typeface="Meiryo UI" pitchFamily="34" charset="0"/>
                <a:ea typeface="Meiryo UI" pitchFamily="34" charset="-122"/>
                <a:cs typeface="Meiryo UI" pitchFamily="34" charset="-120"/>
              </a:rPr>
              <a:t>データベース（ライト実装）</a:t>
            </a:r>
            <a:endParaRPr lang="en-US" sz="1100" dirty="0"/>
          </a:p>
        </p:txBody>
      </p:sp>
      <p:sp>
        <p:nvSpPr>
          <p:cNvPr id="28" name="Text 26"/>
          <p:cNvSpPr/>
          <p:nvPr/>
        </p:nvSpPr>
        <p:spPr>
          <a:xfrm>
            <a:off x="1005840" y="4325112"/>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・Notion等を用いたDB化</a:t>
            </a:r>
            <a:endParaRPr lang="en-US" sz="900" dirty="0"/>
          </a:p>
        </p:txBody>
      </p:sp>
      <p:sp>
        <p:nvSpPr>
          <p:cNvPr id="29" name="Text 27"/>
          <p:cNvSpPr/>
          <p:nvPr/>
        </p:nvSpPr>
        <p:spPr>
          <a:xfrm>
            <a:off x="1005840" y="4507992"/>
            <a:ext cx="7589520" cy="1828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・監査・権限・エクスポート性を担保</a:t>
            </a:r>
            <a:endParaRPr lang="en-US" sz="900" dirty="0"/>
          </a:p>
        </p:txBody>
      </p:sp>
      <p:sp>
        <p:nvSpPr>
          <p:cNvPr id="30" name="Shape 28"/>
          <p:cNvSpPr/>
          <p:nvPr/>
        </p:nvSpPr>
        <p:spPr>
          <a:xfrm>
            <a:off x="457200" y="4160520"/>
            <a:ext cx="8229600" cy="411480"/>
          </a:xfrm>
          <a:prstGeom prst="rect">
            <a:avLst/>
          </a:prstGeom>
          <a:solidFill>
            <a:srgbClr val="F5F5F5"/>
          </a:solidFill>
          <a:ln/>
        </p:spPr>
      </p:sp>
      <p:sp>
        <p:nvSpPr>
          <p:cNvPr id="31" name="Text 29"/>
          <p:cNvSpPr/>
          <p:nvPr/>
        </p:nvSpPr>
        <p:spPr>
          <a:xfrm>
            <a:off x="548640" y="4160520"/>
            <a:ext cx="8046720" cy="41148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※推薦文（カウンセラーコメント）の自動生成はPhase 2へ移動しています。セミナー内容を踏まえた方が精度が高いためです。</a:t>
            </a:r>
            <a:endParaRPr lang="en-US" sz="900" dirty="0"/>
          </a:p>
        </p:txBody>
      </p:sp>
      <p:sp>
        <p:nvSpPr>
          <p:cNvPr id="32" name="Text 30"/>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33" name="Text 31"/>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371600"/>
            <a:ext cx="914400" cy="457200"/>
          </a:xfrm>
          <a:prstGeom prst="rect">
            <a:avLst/>
          </a:prstGeom>
          <a:noFill/>
          <a:ln/>
        </p:spPr>
        <p:txBody>
          <a:bodyPr wrap="square" rtlCol="0" anchor="ctr"/>
          <a:lstStyle/>
          <a:p>
            <a:pPr indent="0" marL="0">
              <a:buNone/>
            </a:pPr>
            <a:r>
              <a:rPr lang="en-US" sz="3200" b="1" dirty="0">
                <a:solidFill>
                  <a:srgbClr val="29BA74"/>
                </a:solidFill>
                <a:latin typeface="Century Gothic" pitchFamily="34" charset="0"/>
                <a:ea typeface="Century Gothic" pitchFamily="34" charset="-122"/>
                <a:cs typeface="Century Gothic" pitchFamily="34" charset="-120"/>
              </a:rPr>
              <a:t>04</a:t>
            </a:r>
            <a:endParaRPr lang="en-US" sz="3200" dirty="0"/>
          </a:p>
        </p:txBody>
      </p:sp>
      <p:sp>
        <p:nvSpPr>
          <p:cNvPr id="3" name="Text 1"/>
          <p:cNvSpPr/>
          <p:nvPr/>
        </p:nvSpPr>
        <p:spPr>
          <a:xfrm>
            <a:off x="457200" y="1920240"/>
            <a:ext cx="8229600" cy="731520"/>
          </a:xfrm>
          <a:prstGeom prst="rect">
            <a:avLst/>
          </a:prstGeom>
          <a:noFill/>
          <a:ln/>
        </p:spPr>
        <p:txBody>
          <a:bodyPr wrap="square" rtlCol="0" anchor="ctr"/>
          <a:lstStyle/>
          <a:p>
            <a:pPr indent="0" marL="0">
              <a:buNone/>
            </a:pPr>
            <a:r>
              <a:rPr lang="en-US" sz="2800" dirty="0">
                <a:solidFill>
                  <a:srgbClr val="FFFFFF"/>
                </a:solidFill>
                <a:latin typeface="Meiryo UI" pitchFamily="34" charset="0"/>
                <a:ea typeface="Meiryo UI" pitchFamily="34" charset="-122"/>
                <a:cs typeface="Meiryo UI" pitchFamily="34" charset="-120"/>
              </a:rPr>
              <a:t>ソリューション概要</a:t>
            </a:r>
            <a:endParaRPr lang="en-US" sz="2800" dirty="0"/>
          </a:p>
        </p:txBody>
      </p:sp>
      <p:sp>
        <p:nvSpPr>
          <p:cNvPr id="4" name="Text 2"/>
          <p:cNvSpPr/>
          <p:nvPr/>
        </p:nvSpPr>
        <p:spPr>
          <a:xfrm>
            <a:off x="457200" y="2743200"/>
            <a:ext cx="8229600" cy="457200"/>
          </a:xfrm>
          <a:prstGeom prst="rect">
            <a:avLst/>
          </a:prstGeom>
          <a:noFill/>
          <a:ln/>
        </p:spPr>
        <p:txBody>
          <a:bodyPr wrap="square" rtlCol="0" anchor="ctr"/>
          <a:lstStyle/>
          <a:p>
            <a:pPr indent="0" marL="0">
              <a:buNone/>
            </a:pPr>
            <a:r>
              <a:rPr lang="en-US" sz="1400" dirty="0">
                <a:solidFill>
                  <a:srgbClr val="FFFFFF"/>
                </a:solidFill>
                <a:latin typeface="Meiryo UI" pitchFamily="34" charset="0"/>
                <a:ea typeface="Meiryo UI" pitchFamily="34" charset="-122"/>
                <a:cs typeface="Meiryo UI" pitchFamily="34" charset="-120"/>
              </a:rPr>
              <a:t>PoCアーキテクチャはパターンA（Notion完結）とパターンB（外部併用）の2種類があります。</a:t>
            </a:r>
            <a:endParaRPr lang="en-US" sz="1400" dirty="0"/>
          </a:p>
        </p:txBody>
      </p:sp>
      <p:sp>
        <p:nvSpPr>
          <p:cNvPr id="5" name="Shape 3"/>
          <p:cNvSpPr/>
          <p:nvPr/>
        </p:nvSpPr>
        <p:spPr>
          <a:xfrm>
            <a:off x="457200" y="3291840"/>
            <a:ext cx="2743200" cy="18288"/>
          </a:xfrm>
          <a:prstGeom prst="rect">
            <a:avLst/>
          </a:prstGeom>
          <a:solidFill>
            <a:srgbClr val="FFFFFF">
              <a:alpha val="50000"/>
            </a:srgbClr>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04 ソリューション概要</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Meiryo UI" pitchFamily="34" charset="0"/>
                <a:ea typeface="Meiryo UI" pitchFamily="34" charset="-122"/>
                <a:cs typeface="Meiryo UI" pitchFamily="34" charset="-120"/>
              </a:rPr>
              <a:t>ツール構成の選択肢</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どちらを選択しても、顧客向けレポート生成は必須であり、本提案の中核となる。</a:t>
            </a:r>
            <a:endParaRPr lang="en-US" sz="1400" dirty="0"/>
          </a:p>
        </p:txBody>
      </p:sp>
      <p:sp>
        <p:nvSpPr>
          <p:cNvPr id="6" name="Shape 4"/>
          <p:cNvSpPr/>
          <p:nvPr/>
        </p:nvSpPr>
        <p:spPr>
          <a:xfrm>
            <a:off x="457200" y="1417320"/>
            <a:ext cx="3931920" cy="365760"/>
          </a:xfrm>
          <a:prstGeom prst="rect">
            <a:avLst/>
          </a:prstGeom>
          <a:solidFill>
            <a:srgbClr val="29BA74"/>
          </a:solidFill>
          <a:ln/>
        </p:spPr>
      </p:sp>
      <p:sp>
        <p:nvSpPr>
          <p:cNvPr id="7" name="Text 5"/>
          <p:cNvSpPr/>
          <p:nvPr/>
        </p:nvSpPr>
        <p:spPr>
          <a:xfrm>
            <a:off x="457200" y="1417320"/>
            <a:ext cx="393192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パターンA：Notionで完結</a:t>
            </a:r>
            <a:endParaRPr lang="en-US" sz="1200" dirty="0"/>
          </a:p>
        </p:txBody>
      </p:sp>
      <p:sp>
        <p:nvSpPr>
          <p:cNvPr id="8" name="Shape 6"/>
          <p:cNvSpPr/>
          <p:nvPr/>
        </p:nvSpPr>
        <p:spPr>
          <a:xfrm>
            <a:off x="457200" y="1783080"/>
            <a:ext cx="3931920" cy="2286000"/>
          </a:xfrm>
          <a:prstGeom prst="rect">
            <a:avLst/>
          </a:prstGeom>
          <a:solidFill>
            <a:srgbClr val="FFFFFF"/>
          </a:solidFill>
          <a:ln w="25400">
            <a:solidFill>
              <a:srgbClr val="29BA74"/>
            </a:solidFill>
            <a:prstDash val="solid"/>
          </a:ln>
        </p:spPr>
      </p:sp>
      <p:sp>
        <p:nvSpPr>
          <p:cNvPr id="9" name="Text 7"/>
          <p:cNvSpPr/>
          <p:nvPr/>
        </p:nvSpPr>
        <p:spPr>
          <a:xfrm>
            <a:off x="548640" y="1874520"/>
            <a:ext cx="1097280" cy="201168"/>
          </a:xfrm>
          <a:prstGeom prst="rect">
            <a:avLst/>
          </a:prstGeom>
          <a:noFill/>
          <a:ln/>
        </p:spPr>
        <p:txBody>
          <a:bodyPr wrap="square" rtlCol="0" anchor="ctr"/>
          <a:lstStyle/>
          <a:p>
            <a:pPr indent="0" marL="0">
              <a:buNone/>
            </a:pPr>
            <a:r>
              <a:rPr lang="en-US" sz="900" b="1" dirty="0">
                <a:solidFill>
                  <a:srgbClr val="29BA74"/>
                </a:solidFill>
                <a:latin typeface="Meiryo UI" pitchFamily="34" charset="0"/>
                <a:ea typeface="Meiryo UI" pitchFamily="34" charset="-122"/>
                <a:cs typeface="Meiryo UI" pitchFamily="34" charset="-120"/>
              </a:rPr>
              <a:t>メリット</a:t>
            </a:r>
            <a:endParaRPr lang="en-US" sz="900" dirty="0"/>
          </a:p>
        </p:txBody>
      </p:sp>
      <p:sp>
        <p:nvSpPr>
          <p:cNvPr id="10" name="Text 8"/>
          <p:cNvSpPr/>
          <p:nvPr/>
        </p:nvSpPr>
        <p:spPr>
          <a:xfrm>
            <a:off x="548640" y="2075688"/>
            <a:ext cx="3749040" cy="457200"/>
          </a:xfrm>
          <a:prstGeom prst="rect">
            <a:avLst/>
          </a:prstGeom>
          <a:noFill/>
          <a:ln/>
        </p:spPr>
        <p:txBody>
          <a:bodyPr wrap="square" rtlCol="0" anchor="t"/>
          <a:lstStyle/>
          <a:p>
            <a:pPr indent="0" marL="0">
              <a:buNone/>
            </a:pPr>
            <a:r>
              <a:rPr lang="en-US" sz="1000" dirty="0">
                <a:solidFill>
                  <a:srgbClr val="404040"/>
                </a:solidFill>
                <a:latin typeface="Meiryo UI" pitchFamily="34" charset="0"/>
                <a:ea typeface="Meiryo UI" pitchFamily="34" charset="-122"/>
                <a:cs typeface="Meiryo UI" pitchFamily="34" charset="-120"/>
              </a:rPr>
              <a:t>月額単位の契約で柔軟、追加コスト最小、ツール間連携不要</a:t>
            </a:r>
            <a:endParaRPr lang="en-US" sz="1000" dirty="0"/>
          </a:p>
        </p:txBody>
      </p:sp>
      <p:sp>
        <p:nvSpPr>
          <p:cNvPr id="11" name="Text 9"/>
          <p:cNvSpPr/>
          <p:nvPr/>
        </p:nvSpPr>
        <p:spPr>
          <a:xfrm>
            <a:off x="548640" y="2587752"/>
            <a:ext cx="1097280" cy="201168"/>
          </a:xfrm>
          <a:prstGeom prst="rect">
            <a:avLst/>
          </a:prstGeom>
          <a:noFill/>
          <a:ln/>
        </p:spPr>
        <p:txBody>
          <a:bodyPr wrap="square" rtlCol="0" anchor="ctr"/>
          <a:lstStyle/>
          <a:p>
            <a:pPr indent="0" marL="0">
              <a:buNone/>
            </a:pPr>
            <a:r>
              <a:rPr lang="en-US" sz="900" b="1" dirty="0">
                <a:solidFill>
                  <a:srgbClr val="29BA74"/>
                </a:solidFill>
                <a:latin typeface="Meiryo UI" pitchFamily="34" charset="0"/>
                <a:ea typeface="Meiryo UI" pitchFamily="34" charset="-122"/>
                <a:cs typeface="Meiryo UI" pitchFamily="34" charset="-120"/>
              </a:rPr>
              <a:t>デメリット</a:t>
            </a:r>
            <a:endParaRPr lang="en-US" sz="900" dirty="0"/>
          </a:p>
        </p:txBody>
      </p:sp>
      <p:sp>
        <p:nvSpPr>
          <p:cNvPr id="12" name="Text 10"/>
          <p:cNvSpPr/>
          <p:nvPr/>
        </p:nvSpPr>
        <p:spPr>
          <a:xfrm>
            <a:off x="548640" y="2788920"/>
            <a:ext cx="3749040" cy="457200"/>
          </a:xfrm>
          <a:prstGeom prst="rect">
            <a:avLst/>
          </a:prstGeom>
          <a:noFill/>
          <a:ln/>
        </p:spPr>
        <p:txBody>
          <a:bodyPr wrap="square" rtlCol="0" anchor="t"/>
          <a:lstStyle/>
          <a:p>
            <a:pPr indent="0" marL="0">
              <a:buNone/>
            </a:pPr>
            <a:r>
              <a:rPr lang="en-US" sz="1000" dirty="0">
                <a:solidFill>
                  <a:srgbClr val="404040"/>
                </a:solidFill>
                <a:latin typeface="Meiryo UI" pitchFamily="34" charset="0"/>
                <a:ea typeface="Meiryo UI" pitchFamily="34" charset="-122"/>
                <a:cs typeface="Meiryo UI" pitchFamily="34" charset="-120"/>
              </a:rPr>
              <a:t>リアルタイム文字起こしはPCのみ（スマホは録音後アップロード）</a:t>
            </a:r>
            <a:endParaRPr lang="en-US" sz="1000" dirty="0"/>
          </a:p>
        </p:txBody>
      </p:sp>
      <p:sp>
        <p:nvSpPr>
          <p:cNvPr id="13" name="Text 11"/>
          <p:cNvSpPr/>
          <p:nvPr/>
        </p:nvSpPr>
        <p:spPr>
          <a:xfrm>
            <a:off x="548640" y="3300984"/>
            <a:ext cx="1097280" cy="201168"/>
          </a:xfrm>
          <a:prstGeom prst="rect">
            <a:avLst/>
          </a:prstGeom>
          <a:noFill/>
          <a:ln/>
        </p:spPr>
        <p:txBody>
          <a:bodyPr wrap="square" rtlCol="0" anchor="ctr"/>
          <a:lstStyle/>
          <a:p>
            <a:pPr indent="0" marL="0">
              <a:buNone/>
            </a:pPr>
            <a:r>
              <a:rPr lang="en-US" sz="900" b="1" dirty="0">
                <a:solidFill>
                  <a:srgbClr val="29BA74"/>
                </a:solidFill>
                <a:latin typeface="Meiryo UI" pitchFamily="34" charset="0"/>
                <a:ea typeface="Meiryo UI" pitchFamily="34" charset="-122"/>
                <a:cs typeface="Meiryo UI" pitchFamily="34" charset="-120"/>
              </a:rPr>
              <a:t>推奨ケース</a:t>
            </a:r>
            <a:endParaRPr lang="en-US" sz="900" dirty="0"/>
          </a:p>
        </p:txBody>
      </p:sp>
      <p:sp>
        <p:nvSpPr>
          <p:cNvPr id="14" name="Text 12"/>
          <p:cNvSpPr/>
          <p:nvPr/>
        </p:nvSpPr>
        <p:spPr>
          <a:xfrm>
            <a:off x="548640" y="3502152"/>
            <a:ext cx="3749040" cy="457200"/>
          </a:xfrm>
          <a:prstGeom prst="rect">
            <a:avLst/>
          </a:prstGeom>
          <a:noFill/>
          <a:ln/>
        </p:spPr>
        <p:txBody>
          <a:bodyPr wrap="square" rtlCol="0" anchor="t"/>
          <a:lstStyle/>
          <a:p>
            <a:pPr indent="0" marL="0">
              <a:buNone/>
            </a:pPr>
            <a:r>
              <a:rPr lang="en-US" sz="1000" dirty="0">
                <a:solidFill>
                  <a:srgbClr val="404040"/>
                </a:solidFill>
                <a:latin typeface="Meiryo UI" pitchFamily="34" charset="0"/>
                <a:ea typeface="Meiryo UI" pitchFamily="34" charset="-122"/>
                <a:cs typeface="Meiryo UI" pitchFamily="34" charset="-120"/>
              </a:rPr>
              <a:t>低コストで顧客向けレポートの価値検証に集中したい場合</a:t>
            </a:r>
            <a:endParaRPr lang="en-US" sz="1000" dirty="0"/>
          </a:p>
        </p:txBody>
      </p:sp>
      <p:sp>
        <p:nvSpPr>
          <p:cNvPr id="15" name="Shape 13"/>
          <p:cNvSpPr/>
          <p:nvPr/>
        </p:nvSpPr>
        <p:spPr>
          <a:xfrm>
            <a:off x="4754880" y="1417320"/>
            <a:ext cx="3931920" cy="365760"/>
          </a:xfrm>
          <a:prstGeom prst="rect">
            <a:avLst/>
          </a:prstGeom>
          <a:solidFill>
            <a:srgbClr val="A6A6A6"/>
          </a:solidFill>
          <a:ln/>
        </p:spPr>
      </p:sp>
      <p:sp>
        <p:nvSpPr>
          <p:cNvPr id="16" name="Text 14"/>
          <p:cNvSpPr/>
          <p:nvPr/>
        </p:nvSpPr>
        <p:spPr>
          <a:xfrm>
            <a:off x="4754880" y="1417320"/>
            <a:ext cx="393192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パターンB：外部プロダクト＋Notion</a:t>
            </a:r>
            <a:endParaRPr lang="en-US" sz="1200" dirty="0"/>
          </a:p>
        </p:txBody>
      </p:sp>
      <p:sp>
        <p:nvSpPr>
          <p:cNvPr id="17" name="Shape 15"/>
          <p:cNvSpPr/>
          <p:nvPr/>
        </p:nvSpPr>
        <p:spPr>
          <a:xfrm>
            <a:off x="4754880" y="1783080"/>
            <a:ext cx="3931920" cy="2286000"/>
          </a:xfrm>
          <a:prstGeom prst="rect">
            <a:avLst/>
          </a:prstGeom>
          <a:solidFill>
            <a:srgbClr val="FFFFFF"/>
          </a:solidFill>
          <a:ln w="12700">
            <a:solidFill>
              <a:srgbClr val="A6A6A6"/>
            </a:solidFill>
            <a:prstDash val="solid"/>
          </a:ln>
        </p:spPr>
      </p:sp>
      <p:sp>
        <p:nvSpPr>
          <p:cNvPr id="18" name="Text 16"/>
          <p:cNvSpPr/>
          <p:nvPr/>
        </p:nvSpPr>
        <p:spPr>
          <a:xfrm>
            <a:off x="4846320" y="1874520"/>
            <a:ext cx="1097280" cy="201168"/>
          </a:xfrm>
          <a:prstGeom prst="rect">
            <a:avLst/>
          </a:prstGeom>
          <a:noFill/>
          <a:ln/>
        </p:spPr>
        <p:txBody>
          <a:bodyPr wrap="square" rtlCol="0" anchor="ctr"/>
          <a:lstStyle/>
          <a:p>
            <a:pPr indent="0" marL="0">
              <a:buNone/>
            </a:pPr>
            <a:r>
              <a:rPr lang="en-US" sz="900" b="1" dirty="0">
                <a:solidFill>
                  <a:srgbClr val="A6A6A6"/>
                </a:solidFill>
                <a:latin typeface="Meiryo UI" pitchFamily="34" charset="0"/>
                <a:ea typeface="Meiryo UI" pitchFamily="34" charset="-122"/>
                <a:cs typeface="Meiryo UI" pitchFamily="34" charset="-120"/>
              </a:rPr>
              <a:t>メリット</a:t>
            </a:r>
            <a:endParaRPr lang="en-US" sz="900" dirty="0"/>
          </a:p>
        </p:txBody>
      </p:sp>
      <p:sp>
        <p:nvSpPr>
          <p:cNvPr id="19" name="Text 17"/>
          <p:cNvSpPr/>
          <p:nvPr/>
        </p:nvSpPr>
        <p:spPr>
          <a:xfrm>
            <a:off x="4846320" y="2075688"/>
            <a:ext cx="3749040" cy="457200"/>
          </a:xfrm>
          <a:prstGeom prst="rect">
            <a:avLst/>
          </a:prstGeom>
          <a:noFill/>
          <a:ln/>
        </p:spPr>
        <p:txBody>
          <a:bodyPr wrap="square" rtlCol="0" anchor="t"/>
          <a:lstStyle/>
          <a:p>
            <a:pPr indent="0" marL="0">
              <a:buNone/>
            </a:pPr>
            <a:r>
              <a:rPr lang="en-US" sz="1000" dirty="0">
                <a:solidFill>
                  <a:srgbClr val="404040"/>
                </a:solidFill>
                <a:latin typeface="Meiryo UI" pitchFamily="34" charset="0"/>
                <a:ea typeface="Meiryo UI" pitchFamily="34" charset="-122"/>
                <a:cs typeface="Meiryo UI" pitchFamily="34" charset="-120"/>
              </a:rPr>
              <a:t>アドバイザー指導機能を同時に検証可能、スマホ対応充実</a:t>
            </a:r>
            <a:endParaRPr lang="en-US" sz="1000" dirty="0"/>
          </a:p>
        </p:txBody>
      </p:sp>
      <p:sp>
        <p:nvSpPr>
          <p:cNvPr id="20" name="Text 18"/>
          <p:cNvSpPr/>
          <p:nvPr/>
        </p:nvSpPr>
        <p:spPr>
          <a:xfrm>
            <a:off x="4846320" y="2587752"/>
            <a:ext cx="1097280" cy="201168"/>
          </a:xfrm>
          <a:prstGeom prst="rect">
            <a:avLst/>
          </a:prstGeom>
          <a:noFill/>
          <a:ln/>
        </p:spPr>
        <p:txBody>
          <a:bodyPr wrap="square" rtlCol="0" anchor="ctr"/>
          <a:lstStyle/>
          <a:p>
            <a:pPr indent="0" marL="0">
              <a:buNone/>
            </a:pPr>
            <a:r>
              <a:rPr lang="en-US" sz="900" b="1" dirty="0">
                <a:solidFill>
                  <a:srgbClr val="A6A6A6"/>
                </a:solidFill>
                <a:latin typeface="Meiryo UI" pitchFamily="34" charset="0"/>
                <a:ea typeface="Meiryo UI" pitchFamily="34" charset="-122"/>
                <a:cs typeface="Meiryo UI" pitchFamily="34" charset="-120"/>
              </a:rPr>
              <a:t>デメリット</a:t>
            </a:r>
            <a:endParaRPr lang="en-US" sz="900" dirty="0"/>
          </a:p>
        </p:txBody>
      </p:sp>
      <p:sp>
        <p:nvSpPr>
          <p:cNvPr id="21" name="Text 19"/>
          <p:cNvSpPr/>
          <p:nvPr/>
        </p:nvSpPr>
        <p:spPr>
          <a:xfrm>
            <a:off x="4846320" y="2788920"/>
            <a:ext cx="3749040" cy="457200"/>
          </a:xfrm>
          <a:prstGeom prst="rect">
            <a:avLst/>
          </a:prstGeom>
          <a:noFill/>
          <a:ln/>
        </p:spPr>
        <p:txBody>
          <a:bodyPr wrap="square" rtlCol="0" anchor="t"/>
          <a:lstStyle/>
          <a:p>
            <a:pPr indent="0" marL="0">
              <a:buNone/>
            </a:pPr>
            <a:r>
              <a:rPr lang="en-US" sz="1000" dirty="0">
                <a:solidFill>
                  <a:srgbClr val="404040"/>
                </a:solidFill>
                <a:latin typeface="Meiryo UI" pitchFamily="34" charset="0"/>
                <a:ea typeface="Meiryo UI" pitchFamily="34" charset="-122"/>
                <a:cs typeface="Meiryo UI" pitchFamily="34" charset="-120"/>
              </a:rPr>
              <a:t>ツール費用追加、検証項目増で複雑化、データ連携確認必要</a:t>
            </a:r>
            <a:endParaRPr lang="en-US" sz="1000" dirty="0"/>
          </a:p>
        </p:txBody>
      </p:sp>
      <p:sp>
        <p:nvSpPr>
          <p:cNvPr id="22" name="Text 20"/>
          <p:cNvSpPr/>
          <p:nvPr/>
        </p:nvSpPr>
        <p:spPr>
          <a:xfrm>
            <a:off x="4846320" y="3300984"/>
            <a:ext cx="1097280" cy="201168"/>
          </a:xfrm>
          <a:prstGeom prst="rect">
            <a:avLst/>
          </a:prstGeom>
          <a:noFill/>
          <a:ln/>
        </p:spPr>
        <p:txBody>
          <a:bodyPr wrap="square" rtlCol="0" anchor="ctr"/>
          <a:lstStyle/>
          <a:p>
            <a:pPr indent="0" marL="0">
              <a:buNone/>
            </a:pPr>
            <a:r>
              <a:rPr lang="en-US" sz="900" b="1" dirty="0">
                <a:solidFill>
                  <a:srgbClr val="A6A6A6"/>
                </a:solidFill>
                <a:latin typeface="Meiryo UI" pitchFamily="34" charset="0"/>
                <a:ea typeface="Meiryo UI" pitchFamily="34" charset="-122"/>
                <a:cs typeface="Meiryo UI" pitchFamily="34" charset="-120"/>
              </a:rPr>
              <a:t>推奨ケース</a:t>
            </a:r>
            <a:endParaRPr lang="en-US" sz="900" dirty="0"/>
          </a:p>
        </p:txBody>
      </p:sp>
      <p:sp>
        <p:nvSpPr>
          <p:cNvPr id="23" name="Text 21"/>
          <p:cNvSpPr/>
          <p:nvPr/>
        </p:nvSpPr>
        <p:spPr>
          <a:xfrm>
            <a:off x="4846320" y="3502152"/>
            <a:ext cx="3749040" cy="457200"/>
          </a:xfrm>
          <a:prstGeom prst="rect">
            <a:avLst/>
          </a:prstGeom>
          <a:noFill/>
          <a:ln/>
        </p:spPr>
        <p:txBody>
          <a:bodyPr wrap="square" rtlCol="0" anchor="t"/>
          <a:lstStyle/>
          <a:p>
            <a:pPr indent="0" marL="0">
              <a:buNone/>
            </a:pPr>
            <a:r>
              <a:rPr lang="en-US" sz="1000" dirty="0">
                <a:solidFill>
                  <a:srgbClr val="404040"/>
                </a:solidFill>
                <a:latin typeface="Meiryo UI" pitchFamily="34" charset="0"/>
                <a:ea typeface="Meiryo UI" pitchFamily="34" charset="-122"/>
                <a:cs typeface="Meiryo UI" pitchFamily="34" charset="-120"/>
              </a:rPr>
              <a:t>アドバイザー評価・コーチング機能も早期検証したい場合</a:t>
            </a:r>
            <a:endParaRPr lang="en-US" sz="1000" dirty="0"/>
          </a:p>
        </p:txBody>
      </p:sp>
      <p:sp>
        <p:nvSpPr>
          <p:cNvPr id="24" name="Shape 22"/>
          <p:cNvSpPr/>
          <p:nvPr/>
        </p:nvSpPr>
        <p:spPr>
          <a:xfrm>
            <a:off x="457200" y="4160520"/>
            <a:ext cx="8229600" cy="411480"/>
          </a:xfrm>
          <a:prstGeom prst="rect">
            <a:avLst/>
          </a:prstGeom>
          <a:solidFill>
            <a:srgbClr val="E8F5F0"/>
          </a:solidFill>
          <a:ln/>
        </p:spPr>
      </p:sp>
      <p:sp>
        <p:nvSpPr>
          <p:cNvPr id="25" name="Text 23"/>
          <p:cNvSpPr/>
          <p:nvPr/>
        </p:nvSpPr>
        <p:spPr>
          <a:xfrm>
            <a:off x="548640" y="4160520"/>
            <a:ext cx="8046720" cy="411480"/>
          </a:xfrm>
          <a:prstGeom prst="rect">
            <a:avLst/>
          </a:prstGeom>
          <a:noFill/>
          <a:ln/>
        </p:spPr>
        <p:txBody>
          <a:bodyPr wrap="square" rtlCol="0" anchor="ctr"/>
          <a:lstStyle/>
          <a:p>
            <a:pPr indent="0" marL="0">
              <a:buNone/>
            </a:pPr>
            <a:r>
              <a:rPr lang="en-US" sz="900" dirty="0">
                <a:solidFill>
                  <a:srgbClr val="29BA74"/>
                </a:solidFill>
                <a:latin typeface="Meiryo UI" pitchFamily="34" charset="0"/>
                <a:ea typeface="Meiryo UI" pitchFamily="34" charset="-122"/>
                <a:cs typeface="Meiryo UI" pitchFamily="34" charset="-120"/>
              </a:rPr>
              <a:t>確認事項：Miitel/AMPTalk等の録音データエクスポート可否については、ブライトリンク様側でご確認をお願いいたします。</a:t>
            </a:r>
            <a:endParaRPr lang="en-US" sz="900" dirty="0"/>
          </a:p>
        </p:txBody>
      </p:sp>
      <p:sp>
        <p:nvSpPr>
          <p:cNvPr id="26" name="Text 24"/>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27" name="Text 25"/>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371600"/>
            <a:ext cx="914400" cy="457200"/>
          </a:xfrm>
          <a:prstGeom prst="rect">
            <a:avLst/>
          </a:prstGeom>
          <a:noFill/>
          <a:ln/>
        </p:spPr>
        <p:txBody>
          <a:bodyPr wrap="square" rtlCol="0" anchor="ctr"/>
          <a:lstStyle/>
          <a:p>
            <a:pPr indent="0" marL="0">
              <a:buNone/>
            </a:pPr>
            <a:r>
              <a:rPr lang="en-US" sz="3200" b="1" dirty="0">
                <a:solidFill>
                  <a:srgbClr val="29BA74"/>
                </a:solidFill>
                <a:latin typeface="Century Gothic" pitchFamily="34" charset="0"/>
                <a:ea typeface="Century Gothic" pitchFamily="34" charset="-122"/>
                <a:cs typeface="Century Gothic" pitchFamily="34" charset="-120"/>
              </a:rPr>
              <a:t>05</a:t>
            </a:r>
            <a:endParaRPr lang="en-US" sz="3200" dirty="0"/>
          </a:p>
        </p:txBody>
      </p:sp>
      <p:sp>
        <p:nvSpPr>
          <p:cNvPr id="3" name="Text 1"/>
          <p:cNvSpPr/>
          <p:nvPr/>
        </p:nvSpPr>
        <p:spPr>
          <a:xfrm>
            <a:off x="457200" y="1920240"/>
            <a:ext cx="8229600" cy="731520"/>
          </a:xfrm>
          <a:prstGeom prst="rect">
            <a:avLst/>
          </a:prstGeom>
          <a:noFill/>
          <a:ln/>
        </p:spPr>
        <p:txBody>
          <a:bodyPr wrap="square" rtlCol="0" anchor="ctr"/>
          <a:lstStyle/>
          <a:p>
            <a:pPr indent="0" marL="0">
              <a:buNone/>
            </a:pPr>
            <a:r>
              <a:rPr lang="en-US" sz="2800" dirty="0">
                <a:solidFill>
                  <a:srgbClr val="FFFFFF"/>
                </a:solidFill>
                <a:latin typeface="Meiryo UI" pitchFamily="34" charset="0"/>
                <a:ea typeface="Meiryo UI" pitchFamily="34" charset="-122"/>
                <a:cs typeface="Meiryo UI" pitchFamily="34" charset="-120"/>
              </a:rPr>
              <a:t>進め方・体制・スケジュール</a:t>
            </a:r>
            <a:endParaRPr lang="en-US" sz="2800" dirty="0"/>
          </a:p>
        </p:txBody>
      </p:sp>
      <p:sp>
        <p:nvSpPr>
          <p:cNvPr id="4" name="Text 2"/>
          <p:cNvSpPr/>
          <p:nvPr/>
        </p:nvSpPr>
        <p:spPr>
          <a:xfrm>
            <a:off x="457200" y="2743200"/>
            <a:ext cx="8229600" cy="457200"/>
          </a:xfrm>
          <a:prstGeom prst="rect">
            <a:avLst/>
          </a:prstGeom>
          <a:noFill/>
          <a:ln/>
        </p:spPr>
        <p:txBody>
          <a:bodyPr wrap="square" rtlCol="0" anchor="ctr"/>
          <a:lstStyle/>
          <a:p>
            <a:pPr indent="0" marL="0">
              <a:buNone/>
            </a:pPr>
            <a:r>
              <a:rPr lang="en-US" sz="1400" dirty="0">
                <a:solidFill>
                  <a:srgbClr val="FFFFFF"/>
                </a:solidFill>
                <a:latin typeface="Meiryo UI" pitchFamily="34" charset="0"/>
                <a:ea typeface="Meiryo UI" pitchFamily="34" charset="-122"/>
                <a:cs typeface="Meiryo UI" pitchFamily="34" charset="-120"/>
              </a:rPr>
              <a:t>Phase 1は全8週の工程で進めます。</a:t>
            </a:r>
            <a:endParaRPr lang="en-US" sz="1400" dirty="0"/>
          </a:p>
        </p:txBody>
      </p:sp>
      <p:sp>
        <p:nvSpPr>
          <p:cNvPr id="5" name="Shape 3"/>
          <p:cNvSpPr/>
          <p:nvPr/>
        </p:nvSpPr>
        <p:spPr>
          <a:xfrm>
            <a:off x="457200" y="3291840"/>
            <a:ext cx="2743200" cy="18288"/>
          </a:xfrm>
          <a:prstGeom prst="rect">
            <a:avLst/>
          </a:prstGeom>
          <a:solidFill>
            <a:srgbClr val="FFFFFF">
              <a:alpha val="50000"/>
            </a:srgbClr>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05 進め方・体制・スケジュール</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Century Gothic" pitchFamily="34" charset="0"/>
                <a:ea typeface="Century Gothic" pitchFamily="34" charset="-122"/>
                <a:cs typeface="Century Gothic" pitchFamily="34" charset="-120"/>
              </a:rPr>
              <a:t>Phase</a:t>
            </a:r>
            <a:pPr indent="0" marL="0">
              <a:buNone/>
            </a:pPr>
            <a:r>
              <a:rPr lang="en-US" sz="2000" dirty="0">
                <a:solidFill>
                  <a:srgbClr val="404040"/>
                </a:solidFill>
                <a:latin typeface="Meiryo UI" pitchFamily="34" charset="0"/>
                <a:ea typeface="Meiryo UI" pitchFamily="34" charset="-122"/>
                <a:cs typeface="Meiryo UI" pitchFamily="34" charset="-120"/>
              </a:rPr>
              <a:t xml:space="preserve"> </a:t>
            </a:r>
            <a:pPr indent="0" marL="0">
              <a:buNone/>
            </a:pPr>
            <a:r>
              <a:rPr lang="en-US" sz="2000" dirty="0">
                <a:solidFill>
                  <a:srgbClr val="404040"/>
                </a:solidFill>
                <a:latin typeface="Century Gothic" pitchFamily="34" charset="0"/>
                <a:ea typeface="Century Gothic" pitchFamily="34" charset="-122"/>
                <a:cs typeface="Century Gothic" pitchFamily="34" charset="-120"/>
              </a:rPr>
              <a:t>1</a:t>
            </a:r>
            <a:pPr indent="0" marL="0">
              <a:buNone/>
            </a:pPr>
            <a:r>
              <a:rPr lang="en-US" sz="2000" dirty="0">
                <a:solidFill>
                  <a:srgbClr val="404040"/>
                </a:solidFill>
                <a:latin typeface="Meiryo UI" pitchFamily="34" charset="0"/>
                <a:ea typeface="Meiryo UI" pitchFamily="34" charset="-122"/>
                <a:cs typeface="Meiryo UI" pitchFamily="34" charset="-120"/>
              </a:rPr>
              <a:t xml:space="preserve"> スケジュール（全</a:t>
            </a:r>
            <a:pPr indent="0" marL="0">
              <a:buNone/>
            </a:pPr>
            <a:r>
              <a:rPr lang="en-US" sz="2000" dirty="0">
                <a:solidFill>
                  <a:srgbClr val="404040"/>
                </a:solidFill>
                <a:latin typeface="Century Gothic" pitchFamily="34" charset="0"/>
                <a:ea typeface="Century Gothic" pitchFamily="34" charset="-122"/>
                <a:cs typeface="Century Gothic" pitchFamily="34" charset="-120"/>
              </a:rPr>
              <a:t>8</a:t>
            </a:r>
            <a:pPr indent="0" marL="0">
              <a:buNone/>
            </a:pPr>
            <a:r>
              <a:rPr lang="en-US" sz="2000" dirty="0">
                <a:solidFill>
                  <a:srgbClr val="404040"/>
                </a:solidFill>
                <a:latin typeface="Meiryo UI" pitchFamily="34" charset="0"/>
                <a:ea typeface="Meiryo UI" pitchFamily="34" charset="-122"/>
                <a:cs typeface="Meiryo UI" pitchFamily="34" charset="-120"/>
              </a:rPr>
              <a:t>週）</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設計と実装を集中的に実施し、</a:t>
            </a:r>
            <a:pPr indent="0" marL="0">
              <a:buNone/>
            </a:pPr>
            <a:r>
              <a:rPr lang="en-US" sz="1400" dirty="0">
                <a:solidFill>
                  <a:srgbClr val="404040"/>
                </a:solidFill>
                <a:latin typeface="Century Gothic" pitchFamily="34" charset="0"/>
                <a:ea typeface="Century Gothic" pitchFamily="34" charset="-122"/>
                <a:cs typeface="Century Gothic" pitchFamily="34" charset="-120"/>
              </a:rPr>
              <a:t>5</a:t>
            </a:r>
            <a:pPr indent="0" marL="0">
              <a:buNone/>
            </a:pPr>
            <a:r>
              <a:rPr lang="en-US" sz="1400" dirty="0">
                <a:solidFill>
                  <a:srgbClr val="404040"/>
                </a:solidFill>
                <a:latin typeface="Meiryo UI" pitchFamily="34" charset="0"/>
                <a:ea typeface="Meiryo UI" pitchFamily="34" charset="-122"/>
                <a:cs typeface="Meiryo UI" pitchFamily="34" charset="-120"/>
              </a:rPr>
              <a:t>週間の</a:t>
            </a:r>
            <a:pPr indent="0" marL="0">
              <a:buNone/>
            </a:pPr>
            <a:r>
              <a:rPr lang="en-US" sz="1400" dirty="0">
                <a:solidFill>
                  <a:srgbClr val="404040"/>
                </a:solidFill>
                <a:latin typeface="Century Gothic" pitchFamily="34" charset="0"/>
                <a:ea typeface="Century Gothic" pitchFamily="34" charset="-122"/>
                <a:cs typeface="Century Gothic" pitchFamily="34" charset="-120"/>
              </a:rPr>
              <a:t>PoC</a:t>
            </a:r>
            <a:pPr indent="0" marL="0">
              <a:buNone/>
            </a:pPr>
            <a:r>
              <a:rPr lang="en-US" sz="1400" dirty="0">
                <a:solidFill>
                  <a:srgbClr val="404040"/>
                </a:solidFill>
                <a:latin typeface="Meiryo UI" pitchFamily="34" charset="0"/>
                <a:ea typeface="Meiryo UI" pitchFamily="34" charset="-122"/>
                <a:cs typeface="Meiryo UI" pitchFamily="34" charset="-120"/>
              </a:rPr>
              <a:t>運用で十分なデータを収集する。</a:t>
            </a:r>
            <a:endParaRPr lang="en-US" sz="1400" dirty="0"/>
          </a:p>
        </p:txBody>
      </p:sp>
      <p:sp>
        <p:nvSpPr>
          <p:cNvPr id="6" name="Shape 4"/>
          <p:cNvSpPr/>
          <p:nvPr/>
        </p:nvSpPr>
        <p:spPr>
          <a:xfrm>
            <a:off x="2103120" y="1417320"/>
            <a:ext cx="868680" cy="256032"/>
          </a:xfrm>
          <a:prstGeom prst="rect">
            <a:avLst/>
          </a:prstGeom>
          <a:solidFill>
            <a:srgbClr val="F5F5F5"/>
          </a:solidFill>
          <a:ln/>
        </p:spPr>
      </p:sp>
      <p:sp>
        <p:nvSpPr>
          <p:cNvPr id="7" name="Text 5"/>
          <p:cNvSpPr/>
          <p:nvPr/>
        </p:nvSpPr>
        <p:spPr>
          <a:xfrm>
            <a:off x="210312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W1</a:t>
            </a:r>
            <a:endParaRPr lang="en-US" sz="900" dirty="0"/>
          </a:p>
        </p:txBody>
      </p:sp>
      <p:sp>
        <p:nvSpPr>
          <p:cNvPr id="8" name="Shape 6"/>
          <p:cNvSpPr/>
          <p:nvPr/>
        </p:nvSpPr>
        <p:spPr>
          <a:xfrm>
            <a:off x="2971800" y="1417320"/>
            <a:ext cx="868680" cy="256032"/>
          </a:xfrm>
          <a:prstGeom prst="rect">
            <a:avLst/>
          </a:prstGeom>
          <a:solidFill>
            <a:srgbClr val="F5F5F5"/>
          </a:solidFill>
          <a:ln/>
        </p:spPr>
      </p:sp>
      <p:sp>
        <p:nvSpPr>
          <p:cNvPr id="9" name="Text 7"/>
          <p:cNvSpPr/>
          <p:nvPr/>
        </p:nvSpPr>
        <p:spPr>
          <a:xfrm>
            <a:off x="297180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W2</a:t>
            </a:r>
            <a:endParaRPr lang="en-US" sz="900" dirty="0"/>
          </a:p>
        </p:txBody>
      </p:sp>
      <p:sp>
        <p:nvSpPr>
          <p:cNvPr id="10" name="Shape 8"/>
          <p:cNvSpPr/>
          <p:nvPr/>
        </p:nvSpPr>
        <p:spPr>
          <a:xfrm>
            <a:off x="3840480" y="1417320"/>
            <a:ext cx="868680" cy="256032"/>
          </a:xfrm>
          <a:prstGeom prst="rect">
            <a:avLst/>
          </a:prstGeom>
          <a:solidFill>
            <a:srgbClr val="F5F5F5"/>
          </a:solidFill>
          <a:ln/>
        </p:spPr>
      </p:sp>
      <p:sp>
        <p:nvSpPr>
          <p:cNvPr id="11" name="Text 9"/>
          <p:cNvSpPr/>
          <p:nvPr/>
        </p:nvSpPr>
        <p:spPr>
          <a:xfrm>
            <a:off x="384048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W3</a:t>
            </a:r>
            <a:endParaRPr lang="en-US" sz="900" dirty="0"/>
          </a:p>
        </p:txBody>
      </p:sp>
      <p:sp>
        <p:nvSpPr>
          <p:cNvPr id="12" name="Shape 10"/>
          <p:cNvSpPr/>
          <p:nvPr/>
        </p:nvSpPr>
        <p:spPr>
          <a:xfrm>
            <a:off x="4709160" y="1417320"/>
            <a:ext cx="868680" cy="256032"/>
          </a:xfrm>
          <a:prstGeom prst="rect">
            <a:avLst/>
          </a:prstGeom>
          <a:solidFill>
            <a:srgbClr val="E8F5F0"/>
          </a:solidFill>
          <a:ln/>
        </p:spPr>
      </p:sp>
      <p:sp>
        <p:nvSpPr>
          <p:cNvPr id="13" name="Text 11"/>
          <p:cNvSpPr/>
          <p:nvPr/>
        </p:nvSpPr>
        <p:spPr>
          <a:xfrm>
            <a:off x="470916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W4</a:t>
            </a:r>
            <a:endParaRPr lang="en-US" sz="900" dirty="0"/>
          </a:p>
        </p:txBody>
      </p:sp>
      <p:sp>
        <p:nvSpPr>
          <p:cNvPr id="14" name="Shape 12"/>
          <p:cNvSpPr/>
          <p:nvPr/>
        </p:nvSpPr>
        <p:spPr>
          <a:xfrm>
            <a:off x="5577840" y="1417320"/>
            <a:ext cx="868680" cy="256032"/>
          </a:xfrm>
          <a:prstGeom prst="rect">
            <a:avLst/>
          </a:prstGeom>
          <a:solidFill>
            <a:srgbClr val="E8F5F0"/>
          </a:solidFill>
          <a:ln/>
        </p:spPr>
      </p:sp>
      <p:sp>
        <p:nvSpPr>
          <p:cNvPr id="15" name="Text 13"/>
          <p:cNvSpPr/>
          <p:nvPr/>
        </p:nvSpPr>
        <p:spPr>
          <a:xfrm>
            <a:off x="557784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W5</a:t>
            </a:r>
            <a:endParaRPr lang="en-US" sz="900" dirty="0"/>
          </a:p>
        </p:txBody>
      </p:sp>
      <p:sp>
        <p:nvSpPr>
          <p:cNvPr id="16" name="Shape 14"/>
          <p:cNvSpPr/>
          <p:nvPr/>
        </p:nvSpPr>
        <p:spPr>
          <a:xfrm>
            <a:off x="6446520" y="1417320"/>
            <a:ext cx="868680" cy="256032"/>
          </a:xfrm>
          <a:prstGeom prst="rect">
            <a:avLst/>
          </a:prstGeom>
          <a:solidFill>
            <a:srgbClr val="E8F5F0"/>
          </a:solidFill>
          <a:ln/>
        </p:spPr>
      </p:sp>
      <p:sp>
        <p:nvSpPr>
          <p:cNvPr id="17" name="Text 15"/>
          <p:cNvSpPr/>
          <p:nvPr/>
        </p:nvSpPr>
        <p:spPr>
          <a:xfrm>
            <a:off x="644652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W6</a:t>
            </a:r>
            <a:endParaRPr lang="en-US" sz="900" dirty="0"/>
          </a:p>
        </p:txBody>
      </p:sp>
      <p:sp>
        <p:nvSpPr>
          <p:cNvPr id="18" name="Shape 16"/>
          <p:cNvSpPr/>
          <p:nvPr/>
        </p:nvSpPr>
        <p:spPr>
          <a:xfrm>
            <a:off x="7315200" y="1417320"/>
            <a:ext cx="868680" cy="256032"/>
          </a:xfrm>
          <a:prstGeom prst="rect">
            <a:avLst/>
          </a:prstGeom>
          <a:solidFill>
            <a:srgbClr val="E8F5F0"/>
          </a:solidFill>
          <a:ln/>
        </p:spPr>
      </p:sp>
      <p:sp>
        <p:nvSpPr>
          <p:cNvPr id="19" name="Text 17"/>
          <p:cNvSpPr/>
          <p:nvPr/>
        </p:nvSpPr>
        <p:spPr>
          <a:xfrm>
            <a:off x="731520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W7</a:t>
            </a:r>
            <a:endParaRPr lang="en-US" sz="900" dirty="0"/>
          </a:p>
        </p:txBody>
      </p:sp>
      <p:sp>
        <p:nvSpPr>
          <p:cNvPr id="20" name="Shape 18"/>
          <p:cNvSpPr/>
          <p:nvPr/>
        </p:nvSpPr>
        <p:spPr>
          <a:xfrm>
            <a:off x="8183880" y="1417320"/>
            <a:ext cx="868680" cy="256032"/>
          </a:xfrm>
          <a:prstGeom prst="rect">
            <a:avLst/>
          </a:prstGeom>
          <a:solidFill>
            <a:srgbClr val="E8F5F0"/>
          </a:solidFill>
          <a:ln/>
        </p:spPr>
      </p:sp>
      <p:sp>
        <p:nvSpPr>
          <p:cNvPr id="21" name="Text 19"/>
          <p:cNvSpPr/>
          <p:nvPr/>
        </p:nvSpPr>
        <p:spPr>
          <a:xfrm>
            <a:off x="8183880" y="1417320"/>
            <a:ext cx="868680" cy="256032"/>
          </a:xfrm>
          <a:prstGeom prst="rect">
            <a:avLst/>
          </a:prstGeom>
          <a:noFill/>
          <a:ln/>
        </p:spPr>
        <p:txBody>
          <a:bodyPr wrap="square" rtlCol="0" anchor="ctr"/>
          <a:lstStyle/>
          <a:p>
            <a:pPr algn="ctr" indent="0" marL="0">
              <a:buNone/>
            </a:pPr>
            <a:r>
              <a:rPr lang="en-US" sz="900" dirty="0">
                <a:solidFill>
                  <a:srgbClr val="404040"/>
                </a:solidFill>
                <a:latin typeface="Century Gothic" pitchFamily="34" charset="0"/>
                <a:ea typeface="Century Gothic" pitchFamily="34" charset="-122"/>
                <a:cs typeface="Century Gothic" pitchFamily="34" charset="-120"/>
              </a:rPr>
              <a:t>W8</a:t>
            </a:r>
            <a:endParaRPr lang="en-US" sz="900" dirty="0"/>
          </a:p>
        </p:txBody>
      </p:sp>
      <p:sp>
        <p:nvSpPr>
          <p:cNvPr id="22" name="Text 20"/>
          <p:cNvSpPr/>
          <p:nvPr/>
        </p:nvSpPr>
        <p:spPr>
          <a:xfrm>
            <a:off x="457200" y="1737360"/>
            <a:ext cx="685800" cy="384048"/>
          </a:xfrm>
          <a:prstGeom prst="rect">
            <a:avLst/>
          </a:prstGeom>
          <a:noFill/>
          <a:ln/>
        </p:spPr>
        <p:txBody>
          <a:bodyPr wrap="square" rtlCol="0" anchor="ctr"/>
          <a:lstStyle/>
          <a:p>
            <a:pPr indent="0" marL="0">
              <a:buNone/>
            </a:pPr>
            <a:r>
              <a:rPr lang="en-US" sz="900" b="1" dirty="0">
                <a:solidFill>
                  <a:srgbClr val="29BA74"/>
                </a:solidFill>
                <a:latin typeface="Century Gothic" pitchFamily="34" charset="0"/>
                <a:ea typeface="Century Gothic" pitchFamily="34" charset="-122"/>
                <a:cs typeface="Century Gothic" pitchFamily="34" charset="-120"/>
              </a:rPr>
              <a:t>Step 0</a:t>
            </a:r>
            <a:endParaRPr lang="en-US" sz="900" dirty="0"/>
          </a:p>
        </p:txBody>
      </p:sp>
      <p:sp>
        <p:nvSpPr>
          <p:cNvPr id="23" name="Text 21"/>
          <p:cNvSpPr/>
          <p:nvPr/>
        </p:nvSpPr>
        <p:spPr>
          <a:xfrm>
            <a:off x="1143000" y="1737360"/>
            <a:ext cx="914400" cy="384048"/>
          </a:xfrm>
          <a:prstGeom prst="rect">
            <a:avLst/>
          </a:prstGeom>
          <a:noFill/>
          <a:ln/>
        </p:spPr>
        <p:txBody>
          <a:bodyPr wrap="square" rtlCol="0" anchor="ctr"/>
          <a:lstStyle/>
          <a:p>
            <a:pPr indent="0" marL="0">
              <a:buNone/>
            </a:pPr>
            <a:r>
              <a:rPr lang="en-US" sz="900" dirty="0">
                <a:solidFill>
                  <a:srgbClr val="404040"/>
                </a:solidFill>
                <a:latin typeface="Meiryo UI" pitchFamily="34" charset="0"/>
                <a:ea typeface="Meiryo UI" pitchFamily="34" charset="-122"/>
                <a:cs typeface="Meiryo UI" pitchFamily="34" charset="-120"/>
              </a:rPr>
              <a:t>キックオフ</a:t>
            </a:r>
            <a:endParaRPr lang="en-US" sz="900" dirty="0"/>
          </a:p>
        </p:txBody>
      </p:sp>
      <p:sp>
        <p:nvSpPr>
          <p:cNvPr id="24" name="Shape 22"/>
          <p:cNvSpPr/>
          <p:nvPr/>
        </p:nvSpPr>
        <p:spPr>
          <a:xfrm>
            <a:off x="2103120" y="1810512"/>
            <a:ext cx="868680" cy="274320"/>
          </a:xfrm>
          <a:prstGeom prst="rect">
            <a:avLst/>
          </a:prstGeom>
          <a:solidFill>
            <a:srgbClr val="1B3928"/>
          </a:solidFill>
          <a:ln/>
        </p:spPr>
      </p:sp>
      <p:sp>
        <p:nvSpPr>
          <p:cNvPr id="25" name="Text 23"/>
          <p:cNvSpPr/>
          <p:nvPr/>
        </p:nvSpPr>
        <p:spPr>
          <a:xfrm>
            <a:off x="457200" y="2194560"/>
            <a:ext cx="685800" cy="384048"/>
          </a:xfrm>
          <a:prstGeom prst="rect">
            <a:avLst/>
          </a:prstGeom>
          <a:noFill/>
          <a:ln/>
        </p:spPr>
        <p:txBody>
          <a:bodyPr wrap="square" rtlCol="0" anchor="ctr"/>
          <a:lstStyle/>
          <a:p>
            <a:pPr indent="0" marL="0">
              <a:buNone/>
            </a:pPr>
            <a:r>
              <a:rPr lang="en-US" sz="900" b="1" dirty="0">
                <a:solidFill>
                  <a:srgbClr val="29BA74"/>
                </a:solidFill>
                <a:latin typeface="Century Gothic" pitchFamily="34" charset="0"/>
                <a:ea typeface="Century Gothic" pitchFamily="34" charset="-122"/>
                <a:cs typeface="Century Gothic" pitchFamily="34" charset="-120"/>
              </a:rPr>
              <a:t>Step 1</a:t>
            </a:r>
            <a:endParaRPr lang="en-US" sz="900" dirty="0"/>
          </a:p>
        </p:txBody>
      </p:sp>
      <p:sp>
        <p:nvSpPr>
          <p:cNvPr id="26" name="Text 24"/>
          <p:cNvSpPr/>
          <p:nvPr/>
        </p:nvSpPr>
        <p:spPr>
          <a:xfrm>
            <a:off x="1143000" y="2194560"/>
            <a:ext cx="914400" cy="384048"/>
          </a:xfrm>
          <a:prstGeom prst="rect">
            <a:avLst/>
          </a:prstGeom>
          <a:noFill/>
          <a:ln/>
        </p:spPr>
        <p:txBody>
          <a:bodyPr wrap="square" rtlCol="0" anchor="ctr"/>
          <a:lstStyle/>
          <a:p>
            <a:pPr indent="0" marL="0">
              <a:buNone/>
            </a:pPr>
            <a:r>
              <a:rPr lang="en-US" sz="900" dirty="0">
                <a:solidFill>
                  <a:srgbClr val="404040"/>
                </a:solidFill>
                <a:latin typeface="Meiryo UI" pitchFamily="34" charset="0"/>
                <a:ea typeface="Meiryo UI" pitchFamily="34" charset="-122"/>
                <a:cs typeface="Meiryo UI" pitchFamily="34" charset="-120"/>
              </a:rPr>
              <a:t>設計</a:t>
            </a:r>
            <a:endParaRPr lang="en-US" sz="900" dirty="0"/>
          </a:p>
        </p:txBody>
      </p:sp>
      <p:sp>
        <p:nvSpPr>
          <p:cNvPr id="27" name="Shape 25"/>
          <p:cNvSpPr/>
          <p:nvPr/>
        </p:nvSpPr>
        <p:spPr>
          <a:xfrm>
            <a:off x="2971800" y="2267712"/>
            <a:ext cx="868680" cy="274320"/>
          </a:xfrm>
          <a:prstGeom prst="rect">
            <a:avLst/>
          </a:prstGeom>
          <a:solidFill>
            <a:srgbClr val="1B3928"/>
          </a:solidFill>
          <a:ln/>
        </p:spPr>
      </p:sp>
      <p:sp>
        <p:nvSpPr>
          <p:cNvPr id="28" name="Text 26"/>
          <p:cNvSpPr/>
          <p:nvPr/>
        </p:nvSpPr>
        <p:spPr>
          <a:xfrm>
            <a:off x="457200" y="2651760"/>
            <a:ext cx="685800" cy="384048"/>
          </a:xfrm>
          <a:prstGeom prst="rect">
            <a:avLst/>
          </a:prstGeom>
          <a:noFill/>
          <a:ln/>
        </p:spPr>
        <p:txBody>
          <a:bodyPr wrap="square" rtlCol="0" anchor="ctr"/>
          <a:lstStyle/>
          <a:p>
            <a:pPr indent="0" marL="0">
              <a:buNone/>
            </a:pPr>
            <a:r>
              <a:rPr lang="en-US" sz="900" b="1" dirty="0">
                <a:solidFill>
                  <a:srgbClr val="29BA74"/>
                </a:solidFill>
                <a:latin typeface="Century Gothic" pitchFamily="34" charset="0"/>
                <a:ea typeface="Century Gothic" pitchFamily="34" charset="-122"/>
                <a:cs typeface="Century Gothic" pitchFamily="34" charset="-120"/>
              </a:rPr>
              <a:t>Step 2</a:t>
            </a:r>
            <a:endParaRPr lang="en-US" sz="900" dirty="0"/>
          </a:p>
        </p:txBody>
      </p:sp>
      <p:sp>
        <p:nvSpPr>
          <p:cNvPr id="29" name="Text 27"/>
          <p:cNvSpPr/>
          <p:nvPr/>
        </p:nvSpPr>
        <p:spPr>
          <a:xfrm>
            <a:off x="1143000" y="2651760"/>
            <a:ext cx="914400" cy="384048"/>
          </a:xfrm>
          <a:prstGeom prst="rect">
            <a:avLst/>
          </a:prstGeom>
          <a:noFill/>
          <a:ln/>
        </p:spPr>
        <p:txBody>
          <a:bodyPr wrap="square" rtlCol="0" anchor="ctr"/>
          <a:lstStyle/>
          <a:p>
            <a:pPr indent="0" marL="0">
              <a:buNone/>
            </a:pPr>
            <a:r>
              <a:rPr lang="en-US" sz="900" dirty="0">
                <a:solidFill>
                  <a:srgbClr val="404040"/>
                </a:solidFill>
                <a:latin typeface="Meiryo UI" pitchFamily="34" charset="0"/>
                <a:ea typeface="Meiryo UI" pitchFamily="34" charset="-122"/>
                <a:cs typeface="Meiryo UI" pitchFamily="34" charset="-120"/>
              </a:rPr>
              <a:t>実装</a:t>
            </a:r>
            <a:endParaRPr lang="en-US" sz="900" dirty="0"/>
          </a:p>
        </p:txBody>
      </p:sp>
      <p:sp>
        <p:nvSpPr>
          <p:cNvPr id="30" name="Shape 28"/>
          <p:cNvSpPr/>
          <p:nvPr/>
        </p:nvSpPr>
        <p:spPr>
          <a:xfrm>
            <a:off x="3840480" y="2724912"/>
            <a:ext cx="868680" cy="274320"/>
          </a:xfrm>
          <a:prstGeom prst="rect">
            <a:avLst/>
          </a:prstGeom>
          <a:solidFill>
            <a:srgbClr val="1B3928"/>
          </a:solidFill>
          <a:ln/>
        </p:spPr>
      </p:sp>
      <p:sp>
        <p:nvSpPr>
          <p:cNvPr id="31" name="Text 29"/>
          <p:cNvSpPr/>
          <p:nvPr/>
        </p:nvSpPr>
        <p:spPr>
          <a:xfrm>
            <a:off x="457200" y="3108960"/>
            <a:ext cx="685800" cy="384048"/>
          </a:xfrm>
          <a:prstGeom prst="rect">
            <a:avLst/>
          </a:prstGeom>
          <a:noFill/>
          <a:ln/>
        </p:spPr>
        <p:txBody>
          <a:bodyPr wrap="square" rtlCol="0" anchor="ctr"/>
          <a:lstStyle/>
          <a:p>
            <a:pPr indent="0" marL="0">
              <a:buNone/>
            </a:pPr>
            <a:r>
              <a:rPr lang="en-US" sz="900" b="1" dirty="0">
                <a:solidFill>
                  <a:srgbClr val="29BA74"/>
                </a:solidFill>
                <a:latin typeface="Century Gothic" pitchFamily="34" charset="0"/>
                <a:ea typeface="Century Gothic" pitchFamily="34" charset="-122"/>
                <a:cs typeface="Century Gothic" pitchFamily="34" charset="-120"/>
              </a:rPr>
              <a:t>Step 3</a:t>
            </a:r>
            <a:endParaRPr lang="en-US" sz="900" dirty="0"/>
          </a:p>
        </p:txBody>
      </p:sp>
      <p:sp>
        <p:nvSpPr>
          <p:cNvPr id="32" name="Text 30"/>
          <p:cNvSpPr/>
          <p:nvPr/>
        </p:nvSpPr>
        <p:spPr>
          <a:xfrm>
            <a:off x="1143000" y="3108960"/>
            <a:ext cx="914400" cy="384048"/>
          </a:xfrm>
          <a:prstGeom prst="rect">
            <a:avLst/>
          </a:prstGeom>
          <a:noFill/>
          <a:ln/>
        </p:spPr>
        <p:txBody>
          <a:bodyPr wrap="square" rtlCol="0" anchor="ctr"/>
          <a:lstStyle/>
          <a:p>
            <a:pPr indent="0" marL="0">
              <a:buNone/>
            </a:pPr>
            <a:r>
              <a:rPr lang="en-US" sz="900" dirty="0">
                <a:solidFill>
                  <a:srgbClr val="404040"/>
                </a:solidFill>
                <a:latin typeface="Meiryo UI" pitchFamily="34" charset="0"/>
                <a:ea typeface="Meiryo UI" pitchFamily="34" charset="-122"/>
                <a:cs typeface="Meiryo UI" pitchFamily="34" charset="-120"/>
              </a:rPr>
              <a:t>PoC運用</a:t>
            </a:r>
            <a:endParaRPr lang="en-US" sz="900" dirty="0"/>
          </a:p>
        </p:txBody>
      </p:sp>
      <p:sp>
        <p:nvSpPr>
          <p:cNvPr id="33" name="Shape 31"/>
          <p:cNvSpPr/>
          <p:nvPr/>
        </p:nvSpPr>
        <p:spPr>
          <a:xfrm>
            <a:off x="4709160" y="3182112"/>
            <a:ext cx="4343400" cy="274320"/>
          </a:xfrm>
          <a:prstGeom prst="rect">
            <a:avLst/>
          </a:prstGeom>
          <a:solidFill>
            <a:srgbClr val="29BA74"/>
          </a:solidFill>
          <a:ln/>
        </p:spPr>
      </p:sp>
      <p:sp>
        <p:nvSpPr>
          <p:cNvPr id="34" name="Text 32"/>
          <p:cNvSpPr/>
          <p:nvPr/>
        </p:nvSpPr>
        <p:spPr>
          <a:xfrm>
            <a:off x="457200" y="3566160"/>
            <a:ext cx="685800" cy="384048"/>
          </a:xfrm>
          <a:prstGeom prst="rect">
            <a:avLst/>
          </a:prstGeom>
          <a:noFill/>
          <a:ln/>
        </p:spPr>
        <p:txBody>
          <a:bodyPr wrap="square" rtlCol="0" anchor="ctr"/>
          <a:lstStyle/>
          <a:p>
            <a:pPr indent="0" marL="0">
              <a:buNone/>
            </a:pPr>
            <a:r>
              <a:rPr lang="en-US" sz="900" b="1" dirty="0">
                <a:solidFill>
                  <a:srgbClr val="29BA74"/>
                </a:solidFill>
                <a:latin typeface="Century Gothic" pitchFamily="34" charset="0"/>
                <a:ea typeface="Century Gothic" pitchFamily="34" charset="-122"/>
                <a:cs typeface="Century Gothic" pitchFamily="34" charset="-120"/>
              </a:rPr>
              <a:t>Step 4</a:t>
            </a:r>
            <a:endParaRPr lang="en-US" sz="900" dirty="0"/>
          </a:p>
        </p:txBody>
      </p:sp>
      <p:sp>
        <p:nvSpPr>
          <p:cNvPr id="35" name="Text 33"/>
          <p:cNvSpPr/>
          <p:nvPr/>
        </p:nvSpPr>
        <p:spPr>
          <a:xfrm>
            <a:off x="1143000" y="3566160"/>
            <a:ext cx="914400" cy="384048"/>
          </a:xfrm>
          <a:prstGeom prst="rect">
            <a:avLst/>
          </a:prstGeom>
          <a:noFill/>
          <a:ln/>
        </p:spPr>
        <p:txBody>
          <a:bodyPr wrap="square" rtlCol="0" anchor="ctr"/>
          <a:lstStyle/>
          <a:p>
            <a:pPr indent="0" marL="0">
              <a:buNone/>
            </a:pPr>
            <a:r>
              <a:rPr lang="en-US" sz="900" dirty="0">
                <a:solidFill>
                  <a:srgbClr val="404040"/>
                </a:solidFill>
                <a:latin typeface="Meiryo UI" pitchFamily="34" charset="0"/>
                <a:ea typeface="Meiryo UI" pitchFamily="34" charset="-122"/>
                <a:cs typeface="Meiryo UI" pitchFamily="34" charset="-120"/>
              </a:rPr>
              <a:t>評価・判定</a:t>
            </a:r>
            <a:endParaRPr lang="en-US" sz="900" dirty="0"/>
          </a:p>
        </p:txBody>
      </p:sp>
      <p:sp>
        <p:nvSpPr>
          <p:cNvPr id="36" name="Shape 34"/>
          <p:cNvSpPr/>
          <p:nvPr/>
        </p:nvSpPr>
        <p:spPr>
          <a:xfrm>
            <a:off x="7315200" y="3639312"/>
            <a:ext cx="1737360" cy="274320"/>
          </a:xfrm>
          <a:prstGeom prst="rect">
            <a:avLst/>
          </a:prstGeom>
          <a:solidFill>
            <a:srgbClr val="1B3928"/>
          </a:solidFill>
          <a:ln/>
        </p:spPr>
      </p:sp>
      <p:sp>
        <p:nvSpPr>
          <p:cNvPr id="37" name="Text 35"/>
          <p:cNvSpPr/>
          <p:nvPr/>
        </p:nvSpPr>
        <p:spPr>
          <a:xfrm>
            <a:off x="457200" y="3657600"/>
            <a:ext cx="1828800" cy="256032"/>
          </a:xfrm>
          <a:prstGeom prst="rect">
            <a:avLst/>
          </a:prstGeom>
          <a:noFill/>
          <a:ln/>
        </p:spPr>
        <p:txBody>
          <a:bodyPr wrap="square" rtlCol="0" anchor="ctr"/>
          <a:lstStyle/>
          <a:p>
            <a:pPr indent="0" marL="0">
              <a:buNone/>
            </a:pPr>
            <a:r>
              <a:rPr lang="en-US" sz="1100" b="1" dirty="0">
                <a:solidFill>
                  <a:srgbClr val="404040"/>
                </a:solidFill>
                <a:latin typeface="Meiryo UI" pitchFamily="34" charset="0"/>
                <a:ea typeface="Meiryo UI" pitchFamily="34" charset="-122"/>
                <a:cs typeface="Meiryo UI" pitchFamily="34" charset="-120"/>
              </a:rPr>
              <a:t>Go/No-Go判定基準</a:t>
            </a:r>
            <a:endParaRPr lang="en-US" sz="1100" dirty="0"/>
          </a:p>
        </p:txBody>
      </p:sp>
      <p:sp>
        <p:nvSpPr>
          <p:cNvPr id="38" name="Shape 36"/>
          <p:cNvSpPr/>
          <p:nvPr/>
        </p:nvSpPr>
        <p:spPr>
          <a:xfrm>
            <a:off x="457200" y="3950208"/>
            <a:ext cx="2011680" cy="594360"/>
          </a:xfrm>
          <a:prstGeom prst="rect">
            <a:avLst/>
          </a:prstGeom>
          <a:solidFill>
            <a:srgbClr val="F5F5F5"/>
          </a:solidFill>
          <a:ln/>
        </p:spPr>
      </p:sp>
      <p:sp>
        <p:nvSpPr>
          <p:cNvPr id="39" name="Text 37"/>
          <p:cNvSpPr/>
          <p:nvPr/>
        </p:nvSpPr>
        <p:spPr>
          <a:xfrm>
            <a:off x="548640" y="3977640"/>
            <a:ext cx="1828800" cy="201168"/>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同意率</a:t>
            </a:r>
            <a:endParaRPr lang="en-US" sz="900" dirty="0"/>
          </a:p>
        </p:txBody>
      </p:sp>
      <p:sp>
        <p:nvSpPr>
          <p:cNvPr id="40" name="Text 38"/>
          <p:cNvSpPr/>
          <p:nvPr/>
        </p:nvSpPr>
        <p:spPr>
          <a:xfrm>
            <a:off x="548640" y="4187952"/>
            <a:ext cx="1828800" cy="320040"/>
          </a:xfrm>
          <a:prstGeom prst="rect">
            <a:avLst/>
          </a:prstGeom>
          <a:noFill/>
          <a:ln/>
        </p:spPr>
        <p:txBody>
          <a:bodyPr wrap="square" rtlCol="0" anchor="ctr"/>
          <a:lstStyle/>
          <a:p>
            <a:pPr indent="0" marL="0">
              <a:buNone/>
            </a:pPr>
            <a:r>
              <a:rPr lang="en-US" sz="1000" b="1" dirty="0">
                <a:solidFill>
                  <a:srgbClr val="29BA74"/>
                </a:solidFill>
                <a:latin typeface="Meiryo UI" pitchFamily="34" charset="0"/>
                <a:ea typeface="Meiryo UI" pitchFamily="34" charset="-122"/>
                <a:cs typeface="Meiryo UI" pitchFamily="34" charset="-120"/>
              </a:rPr>
              <a:t>50%以上</a:t>
            </a:r>
            <a:endParaRPr lang="en-US" sz="1000" dirty="0"/>
          </a:p>
        </p:txBody>
      </p:sp>
      <p:sp>
        <p:nvSpPr>
          <p:cNvPr id="41" name="Shape 39"/>
          <p:cNvSpPr/>
          <p:nvPr/>
        </p:nvSpPr>
        <p:spPr>
          <a:xfrm>
            <a:off x="2560320" y="3950208"/>
            <a:ext cx="2011680" cy="594360"/>
          </a:xfrm>
          <a:prstGeom prst="rect">
            <a:avLst/>
          </a:prstGeom>
          <a:solidFill>
            <a:srgbClr val="F5F5F5"/>
          </a:solidFill>
          <a:ln/>
        </p:spPr>
      </p:sp>
      <p:sp>
        <p:nvSpPr>
          <p:cNvPr id="42" name="Text 40"/>
          <p:cNvSpPr/>
          <p:nvPr/>
        </p:nvSpPr>
        <p:spPr>
          <a:xfrm>
            <a:off x="2651760" y="3977640"/>
            <a:ext cx="1828800" cy="201168"/>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会員満足度</a:t>
            </a:r>
            <a:endParaRPr lang="en-US" sz="900" dirty="0"/>
          </a:p>
        </p:txBody>
      </p:sp>
      <p:sp>
        <p:nvSpPr>
          <p:cNvPr id="43" name="Text 41"/>
          <p:cNvSpPr/>
          <p:nvPr/>
        </p:nvSpPr>
        <p:spPr>
          <a:xfrm>
            <a:off x="2651760" y="4187952"/>
            <a:ext cx="1828800" cy="320040"/>
          </a:xfrm>
          <a:prstGeom prst="rect">
            <a:avLst/>
          </a:prstGeom>
          <a:noFill/>
          <a:ln/>
        </p:spPr>
        <p:txBody>
          <a:bodyPr wrap="square" rtlCol="0" anchor="ctr"/>
          <a:lstStyle/>
          <a:p>
            <a:pPr indent="0" marL="0">
              <a:buNone/>
            </a:pPr>
            <a:r>
              <a:rPr lang="en-US" sz="1000" b="1" dirty="0">
                <a:solidFill>
                  <a:srgbClr val="29BA74"/>
                </a:solidFill>
                <a:latin typeface="Meiryo UI" pitchFamily="34" charset="0"/>
                <a:ea typeface="Meiryo UI" pitchFamily="34" charset="-122"/>
                <a:cs typeface="Meiryo UI" pitchFamily="34" charset="-120"/>
              </a:rPr>
              <a:t>「良かった」70%以上</a:t>
            </a:r>
            <a:endParaRPr lang="en-US" sz="1000" dirty="0"/>
          </a:p>
        </p:txBody>
      </p:sp>
      <p:sp>
        <p:nvSpPr>
          <p:cNvPr id="44" name="Shape 42"/>
          <p:cNvSpPr/>
          <p:nvPr/>
        </p:nvSpPr>
        <p:spPr>
          <a:xfrm>
            <a:off x="4663440" y="3950208"/>
            <a:ext cx="2011680" cy="594360"/>
          </a:xfrm>
          <a:prstGeom prst="rect">
            <a:avLst/>
          </a:prstGeom>
          <a:solidFill>
            <a:srgbClr val="F5F5F5"/>
          </a:solidFill>
          <a:ln/>
        </p:spPr>
      </p:sp>
      <p:sp>
        <p:nvSpPr>
          <p:cNvPr id="45" name="Text 43"/>
          <p:cNvSpPr/>
          <p:nvPr/>
        </p:nvSpPr>
        <p:spPr>
          <a:xfrm>
            <a:off x="4754880" y="3977640"/>
            <a:ext cx="1828800" cy="201168"/>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現場運用</a:t>
            </a:r>
            <a:endParaRPr lang="en-US" sz="900" dirty="0"/>
          </a:p>
        </p:txBody>
      </p:sp>
      <p:sp>
        <p:nvSpPr>
          <p:cNvPr id="46" name="Text 44"/>
          <p:cNvSpPr/>
          <p:nvPr/>
        </p:nvSpPr>
        <p:spPr>
          <a:xfrm>
            <a:off x="4754880" y="4187952"/>
            <a:ext cx="1828800" cy="320040"/>
          </a:xfrm>
          <a:prstGeom prst="rect">
            <a:avLst/>
          </a:prstGeom>
          <a:noFill/>
          <a:ln/>
        </p:spPr>
        <p:txBody>
          <a:bodyPr wrap="square" rtlCol="0" anchor="ctr"/>
          <a:lstStyle/>
          <a:p>
            <a:pPr indent="0" marL="0">
              <a:buNone/>
            </a:pPr>
            <a:r>
              <a:rPr lang="en-US" sz="1000" b="1" dirty="0">
                <a:solidFill>
                  <a:srgbClr val="29BA74"/>
                </a:solidFill>
                <a:latin typeface="Meiryo UI" pitchFamily="34" charset="0"/>
                <a:ea typeface="Meiryo UI" pitchFamily="34" charset="-122"/>
                <a:cs typeface="Meiryo UI" pitchFamily="34" charset="-120"/>
              </a:rPr>
              <a:t>「負荷なく運用」</a:t>
            </a:r>
            <a:endParaRPr lang="en-US" sz="1000" dirty="0"/>
          </a:p>
        </p:txBody>
      </p:sp>
      <p:sp>
        <p:nvSpPr>
          <p:cNvPr id="47" name="Shape 45"/>
          <p:cNvSpPr/>
          <p:nvPr/>
        </p:nvSpPr>
        <p:spPr>
          <a:xfrm>
            <a:off x="6766560" y="3950208"/>
            <a:ext cx="2011680" cy="594360"/>
          </a:xfrm>
          <a:prstGeom prst="rect">
            <a:avLst/>
          </a:prstGeom>
          <a:solidFill>
            <a:srgbClr val="F5F5F5"/>
          </a:solidFill>
          <a:ln/>
        </p:spPr>
      </p:sp>
      <p:sp>
        <p:nvSpPr>
          <p:cNvPr id="48" name="Text 46"/>
          <p:cNvSpPr/>
          <p:nvPr/>
        </p:nvSpPr>
        <p:spPr>
          <a:xfrm>
            <a:off x="6858000" y="3977640"/>
            <a:ext cx="1828800" cy="201168"/>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生成品質</a:t>
            </a:r>
            <a:endParaRPr lang="en-US" sz="900" dirty="0"/>
          </a:p>
        </p:txBody>
      </p:sp>
      <p:sp>
        <p:nvSpPr>
          <p:cNvPr id="49" name="Text 47"/>
          <p:cNvSpPr/>
          <p:nvPr/>
        </p:nvSpPr>
        <p:spPr>
          <a:xfrm>
            <a:off x="6858000" y="4187952"/>
            <a:ext cx="1828800" cy="320040"/>
          </a:xfrm>
          <a:prstGeom prst="rect">
            <a:avLst/>
          </a:prstGeom>
          <a:noFill/>
          <a:ln/>
        </p:spPr>
        <p:txBody>
          <a:bodyPr wrap="square" rtlCol="0" anchor="ctr"/>
          <a:lstStyle/>
          <a:p>
            <a:pPr indent="0" marL="0">
              <a:buNone/>
            </a:pPr>
            <a:r>
              <a:rPr lang="en-US" sz="1000" b="1" dirty="0">
                <a:solidFill>
                  <a:srgbClr val="29BA74"/>
                </a:solidFill>
                <a:latin typeface="Meiryo UI" pitchFamily="34" charset="0"/>
                <a:ea typeface="Meiryo UI" pitchFamily="34" charset="-122"/>
                <a:cs typeface="Meiryo UI" pitchFamily="34" charset="-120"/>
              </a:rPr>
              <a:t>修正率30%以下</a:t>
            </a:r>
            <a:endParaRPr lang="en-US" sz="1000" dirty="0"/>
          </a:p>
        </p:txBody>
      </p:sp>
      <p:sp>
        <p:nvSpPr>
          <p:cNvPr id="50" name="Text 48"/>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51" name="Text 49"/>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05 進め方・体制・スケジュール</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Meiryo UI" pitchFamily="34" charset="0"/>
                <a:ea typeface="Meiryo UI" pitchFamily="34" charset="-122"/>
                <a:cs typeface="Meiryo UI" pitchFamily="34" charset="-120"/>
              </a:rPr>
              <a:t>体制案</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週</a:t>
            </a:r>
            <a:pPr indent="0" marL="0">
              <a:buNone/>
            </a:pPr>
            <a:r>
              <a:rPr lang="en-US" sz="1400" dirty="0">
                <a:solidFill>
                  <a:srgbClr val="404040"/>
                </a:solidFill>
                <a:latin typeface="Century Gothic" pitchFamily="34" charset="0"/>
                <a:ea typeface="Century Gothic" pitchFamily="34" charset="-122"/>
                <a:cs typeface="Century Gothic" pitchFamily="34" charset="-120"/>
              </a:rPr>
              <a:t>1</a:t>
            </a:r>
            <a:pPr indent="0" marL="0">
              <a:buNone/>
            </a:pPr>
            <a:r>
              <a:rPr lang="en-US" sz="1400" dirty="0">
                <a:solidFill>
                  <a:srgbClr val="404040"/>
                </a:solidFill>
                <a:latin typeface="Meiryo UI" pitchFamily="34" charset="0"/>
                <a:ea typeface="Meiryo UI" pitchFamily="34" charset="-122"/>
                <a:cs typeface="Meiryo UI" pitchFamily="34" charset="-120"/>
              </a:rPr>
              <a:t>回の定例</a:t>
            </a:r>
            <a:pPr indent="0" marL="0">
              <a:buNone/>
            </a:pPr>
            <a:r>
              <a:rPr lang="en-US" sz="1400" dirty="0">
                <a:solidFill>
                  <a:srgbClr val="404040"/>
                </a:solidFill>
                <a:latin typeface="Century Gothic" pitchFamily="34" charset="0"/>
                <a:ea typeface="Century Gothic" pitchFamily="34" charset="-122"/>
                <a:cs typeface="Century Gothic" pitchFamily="34" charset="-120"/>
              </a:rPr>
              <a:t>MTG</a:t>
            </a:r>
            <a:pPr indent="0" marL="0">
              <a:buNone/>
            </a:pPr>
            <a:r>
              <a:rPr lang="en-US" sz="1400" dirty="0">
                <a:solidFill>
                  <a:srgbClr val="404040"/>
                </a:solidFill>
                <a:latin typeface="Meiryo UI" pitchFamily="34" charset="0"/>
                <a:ea typeface="Meiryo UI" pitchFamily="34" charset="-122"/>
                <a:cs typeface="Meiryo UI" pitchFamily="34" charset="-120"/>
              </a:rPr>
              <a:t>で進捗確認と課題解消を繰り返しながら進める。</a:t>
            </a:r>
            <a:endParaRPr lang="en-US" sz="1400" dirty="0"/>
          </a:p>
        </p:txBody>
      </p:sp>
      <p:sp>
        <p:nvSpPr>
          <p:cNvPr id="6" name="Shape 4"/>
          <p:cNvSpPr/>
          <p:nvPr/>
        </p:nvSpPr>
        <p:spPr>
          <a:xfrm>
            <a:off x="457200" y="1417320"/>
            <a:ext cx="3931920" cy="347472"/>
          </a:xfrm>
          <a:prstGeom prst="rect">
            <a:avLst/>
          </a:prstGeom>
          <a:solidFill>
            <a:srgbClr val="1B3928"/>
          </a:solidFill>
          <a:ln/>
        </p:spPr>
      </p:sp>
      <p:sp>
        <p:nvSpPr>
          <p:cNvPr id="7" name="Text 5"/>
          <p:cNvSpPr/>
          <p:nvPr/>
        </p:nvSpPr>
        <p:spPr>
          <a:xfrm>
            <a:off x="457200" y="1417320"/>
            <a:ext cx="3931920" cy="347472"/>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ブライトリンク様</a:t>
            </a:r>
            <a:endParaRPr lang="en-US" sz="1200" dirty="0"/>
          </a:p>
        </p:txBody>
      </p:sp>
      <p:sp>
        <p:nvSpPr>
          <p:cNvPr id="8" name="Shape 6"/>
          <p:cNvSpPr/>
          <p:nvPr/>
        </p:nvSpPr>
        <p:spPr>
          <a:xfrm>
            <a:off x="457200" y="1764792"/>
            <a:ext cx="3931920" cy="1737360"/>
          </a:xfrm>
          <a:prstGeom prst="rect">
            <a:avLst/>
          </a:prstGeom>
          <a:solidFill>
            <a:srgbClr val="F5F5F5"/>
          </a:solidFill>
          <a:ln/>
        </p:spPr>
      </p:sp>
      <p:sp>
        <p:nvSpPr>
          <p:cNvPr id="9" name="Text 7"/>
          <p:cNvSpPr/>
          <p:nvPr/>
        </p:nvSpPr>
        <p:spPr>
          <a:xfrm>
            <a:off x="594360" y="182880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・オーナー（企画/経営戦略）</a:t>
            </a:r>
            <a:endParaRPr lang="en-US" sz="1100" dirty="0"/>
          </a:p>
        </p:txBody>
      </p:sp>
      <p:sp>
        <p:nvSpPr>
          <p:cNvPr id="10" name="Text 8"/>
          <p:cNvSpPr/>
          <p:nvPr/>
        </p:nvSpPr>
        <p:spPr>
          <a:xfrm>
            <a:off x="594360" y="224028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・渋谷店責任者</a:t>
            </a:r>
            <a:endParaRPr lang="en-US" sz="1100" dirty="0"/>
          </a:p>
        </p:txBody>
      </p:sp>
      <p:sp>
        <p:nvSpPr>
          <p:cNvPr id="11" name="Text 9"/>
          <p:cNvSpPr/>
          <p:nvPr/>
        </p:nvSpPr>
        <p:spPr>
          <a:xfrm>
            <a:off x="594360" y="265176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・現場担当（数名）</a:t>
            </a:r>
            <a:endParaRPr lang="en-US" sz="1100" dirty="0"/>
          </a:p>
        </p:txBody>
      </p:sp>
      <p:sp>
        <p:nvSpPr>
          <p:cNvPr id="12" name="Text 10"/>
          <p:cNvSpPr/>
          <p:nvPr/>
        </p:nvSpPr>
        <p:spPr>
          <a:xfrm>
            <a:off x="594360" y="306324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・情報システム/セキュリティ窓口</a:t>
            </a:r>
            <a:endParaRPr lang="en-US" sz="1100" dirty="0"/>
          </a:p>
        </p:txBody>
      </p:sp>
      <p:sp>
        <p:nvSpPr>
          <p:cNvPr id="13" name="Shape 11"/>
          <p:cNvSpPr/>
          <p:nvPr/>
        </p:nvSpPr>
        <p:spPr>
          <a:xfrm>
            <a:off x="4754880" y="1417320"/>
            <a:ext cx="3931920" cy="347472"/>
          </a:xfrm>
          <a:prstGeom prst="rect">
            <a:avLst/>
          </a:prstGeom>
          <a:solidFill>
            <a:srgbClr val="29BA74"/>
          </a:solidFill>
          <a:ln/>
        </p:spPr>
      </p:sp>
      <p:sp>
        <p:nvSpPr>
          <p:cNvPr id="14" name="Text 12"/>
          <p:cNvSpPr/>
          <p:nvPr/>
        </p:nvSpPr>
        <p:spPr>
          <a:xfrm>
            <a:off x="4754880" y="1417320"/>
            <a:ext cx="3931920" cy="347472"/>
          </a:xfrm>
          <a:prstGeom prst="rect">
            <a:avLst/>
          </a:prstGeom>
          <a:noFill/>
          <a:ln/>
        </p:spPr>
        <p:txBody>
          <a:bodyPr wrap="square" rtlCol="0" anchor="ctr"/>
          <a:lstStyle/>
          <a:p>
            <a:pPr algn="ctr" indent="0" marL="0">
              <a:buNone/>
            </a:pPr>
            <a:r>
              <a:rPr lang="en-US" sz="1200" b="1" dirty="0">
                <a:solidFill>
                  <a:srgbClr val="FFFFFF"/>
                </a:solidFill>
                <a:latin typeface="Century Gothic" pitchFamily="34" charset="0"/>
                <a:ea typeface="Century Gothic" pitchFamily="34" charset="-122"/>
                <a:cs typeface="Century Gothic" pitchFamily="34" charset="-120"/>
              </a:rPr>
              <a:t>800</a:t>
            </a:r>
            <a:endParaRPr lang="en-US" sz="1200" dirty="0"/>
          </a:p>
        </p:txBody>
      </p:sp>
      <p:sp>
        <p:nvSpPr>
          <p:cNvPr id="15" name="Shape 13"/>
          <p:cNvSpPr/>
          <p:nvPr/>
        </p:nvSpPr>
        <p:spPr>
          <a:xfrm>
            <a:off x="4754880" y="1764792"/>
            <a:ext cx="3931920" cy="1737360"/>
          </a:xfrm>
          <a:prstGeom prst="rect">
            <a:avLst/>
          </a:prstGeom>
          <a:solidFill>
            <a:srgbClr val="E8F5F0"/>
          </a:solidFill>
          <a:ln/>
        </p:spPr>
      </p:sp>
      <p:sp>
        <p:nvSpPr>
          <p:cNvPr id="16" name="Text 14"/>
          <p:cNvSpPr/>
          <p:nvPr/>
        </p:nvSpPr>
        <p:spPr>
          <a:xfrm>
            <a:off x="4892040" y="182880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・PM</a:t>
            </a:r>
            <a:endParaRPr lang="en-US" sz="1100" dirty="0"/>
          </a:p>
        </p:txBody>
      </p:sp>
      <p:sp>
        <p:nvSpPr>
          <p:cNvPr id="17" name="Text 15"/>
          <p:cNvSpPr/>
          <p:nvPr/>
        </p:nvSpPr>
        <p:spPr>
          <a:xfrm>
            <a:off x="4892040" y="224028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・AI/データ設計</a:t>
            </a:r>
            <a:endParaRPr lang="en-US" sz="1100" dirty="0"/>
          </a:p>
        </p:txBody>
      </p:sp>
      <p:sp>
        <p:nvSpPr>
          <p:cNvPr id="18" name="Text 16"/>
          <p:cNvSpPr/>
          <p:nvPr/>
        </p:nvSpPr>
        <p:spPr>
          <a:xfrm>
            <a:off x="4892040" y="265176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・業務設計（現場導線）</a:t>
            </a:r>
            <a:endParaRPr lang="en-US" sz="1100" dirty="0"/>
          </a:p>
        </p:txBody>
      </p:sp>
      <p:sp>
        <p:nvSpPr>
          <p:cNvPr id="19" name="Text 17"/>
          <p:cNvSpPr/>
          <p:nvPr/>
        </p:nvSpPr>
        <p:spPr>
          <a:xfrm>
            <a:off x="4892040" y="3063240"/>
            <a:ext cx="3657600" cy="365760"/>
          </a:xfrm>
          <a:prstGeom prst="rect">
            <a:avLst/>
          </a:prstGeom>
          <a:noFill/>
          <a:ln/>
        </p:spPr>
        <p:txBody>
          <a:bodyPr wrap="square" rtlCol="0" anchor="ctr"/>
          <a:lstStyle/>
          <a:p>
            <a:pPr indent="0" marL="0">
              <a:buNone/>
            </a:pPr>
            <a:r>
              <a:rPr lang="en-US" sz="1100" dirty="0">
                <a:solidFill>
                  <a:srgbClr val="404040"/>
                </a:solidFill>
                <a:latin typeface="Meiryo UI" pitchFamily="34" charset="0"/>
                <a:ea typeface="Meiryo UI" pitchFamily="34" charset="-122"/>
                <a:cs typeface="Meiryo UI" pitchFamily="34" charset="-120"/>
              </a:rPr>
              <a:t>・プロンプト/テンプレ設計</a:t>
            </a:r>
            <a:endParaRPr lang="en-US" sz="1100" dirty="0"/>
          </a:p>
        </p:txBody>
      </p:sp>
      <p:sp>
        <p:nvSpPr>
          <p:cNvPr id="20" name="Text 18"/>
          <p:cNvSpPr/>
          <p:nvPr/>
        </p:nvSpPr>
        <p:spPr>
          <a:xfrm>
            <a:off x="457200" y="3611880"/>
            <a:ext cx="2743200" cy="256032"/>
          </a:xfrm>
          <a:prstGeom prst="rect">
            <a:avLst/>
          </a:prstGeom>
          <a:noFill/>
          <a:ln/>
        </p:spPr>
        <p:txBody>
          <a:bodyPr wrap="square" rtlCol="0" anchor="ctr"/>
          <a:lstStyle/>
          <a:p>
            <a:pPr indent="0" marL="0">
              <a:buNone/>
            </a:pPr>
            <a:r>
              <a:rPr lang="en-US" sz="1100" b="1" dirty="0">
                <a:solidFill>
                  <a:srgbClr val="404040"/>
                </a:solidFill>
                <a:latin typeface="Meiryo UI" pitchFamily="34" charset="0"/>
                <a:ea typeface="Meiryo UI" pitchFamily="34" charset="-122"/>
                <a:cs typeface="Meiryo UI" pitchFamily="34" charset="-120"/>
              </a:rPr>
              <a:t>週次MTGの運営方針</a:t>
            </a:r>
            <a:endParaRPr lang="en-US" sz="1100" dirty="0"/>
          </a:p>
        </p:txBody>
      </p:sp>
      <p:sp>
        <p:nvSpPr>
          <p:cNvPr id="21" name="Shape 19"/>
          <p:cNvSpPr/>
          <p:nvPr/>
        </p:nvSpPr>
        <p:spPr>
          <a:xfrm>
            <a:off x="457200" y="3913632"/>
            <a:ext cx="8229600" cy="640080"/>
          </a:xfrm>
          <a:prstGeom prst="rect">
            <a:avLst/>
          </a:prstGeom>
          <a:solidFill>
            <a:srgbClr val="FFFFFF"/>
          </a:solidFill>
          <a:ln w="12700">
            <a:solidFill>
              <a:srgbClr val="E0E0E0"/>
            </a:solidFill>
            <a:prstDash val="solid"/>
          </a:ln>
        </p:spPr>
      </p:sp>
      <p:sp>
        <p:nvSpPr>
          <p:cNvPr id="22" name="Text 20"/>
          <p:cNvSpPr/>
          <p:nvPr/>
        </p:nvSpPr>
        <p:spPr>
          <a:xfrm>
            <a:off x="548640" y="3950208"/>
            <a:ext cx="8046720" cy="256032"/>
          </a:xfrm>
          <a:prstGeom prst="rect">
            <a:avLst/>
          </a:prstGeom>
          <a:noFill/>
          <a:ln/>
        </p:spPr>
        <p:txBody>
          <a:bodyPr wrap="square" rtlCol="0" anchor="ctr"/>
          <a:lstStyle/>
          <a:p>
            <a:pPr indent="0" marL="0">
              <a:buNone/>
            </a:pPr>
            <a:r>
              <a:rPr lang="en-US" sz="1000" b="1" dirty="0">
                <a:solidFill>
                  <a:srgbClr val="404040"/>
                </a:solidFill>
                <a:latin typeface="Meiryo UI" pitchFamily="34" charset="0"/>
                <a:ea typeface="Meiryo UI" pitchFamily="34" charset="-122"/>
                <a:cs typeface="Meiryo UI" pitchFamily="34" charset="-120"/>
              </a:rPr>
              <a:t>毎週1回（60分）・オンラインまたは対面</a:t>
            </a:r>
            <a:endParaRPr lang="en-US" sz="1000" dirty="0"/>
          </a:p>
        </p:txBody>
      </p:sp>
      <p:sp>
        <p:nvSpPr>
          <p:cNvPr id="23" name="Text 21"/>
          <p:cNvSpPr/>
          <p:nvPr/>
        </p:nvSpPr>
        <p:spPr>
          <a:xfrm>
            <a:off x="548640" y="4224528"/>
            <a:ext cx="8046720" cy="256032"/>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進捗確認 → 課題共有 → デモ/レビュー → 次週確認</a:t>
            </a:r>
            <a:endParaRPr lang="en-US" sz="1000" dirty="0"/>
          </a:p>
        </p:txBody>
      </p:sp>
      <p:sp>
        <p:nvSpPr>
          <p:cNvPr id="24" name="Text 22"/>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25" name="Text 23"/>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371600"/>
            <a:ext cx="914400" cy="457200"/>
          </a:xfrm>
          <a:prstGeom prst="rect">
            <a:avLst/>
          </a:prstGeom>
          <a:noFill/>
          <a:ln/>
        </p:spPr>
        <p:txBody>
          <a:bodyPr wrap="square" rtlCol="0" anchor="ctr"/>
          <a:lstStyle/>
          <a:p>
            <a:pPr indent="0" marL="0">
              <a:buNone/>
            </a:pPr>
            <a:r>
              <a:rPr lang="en-US" sz="3200" b="1" dirty="0">
                <a:solidFill>
                  <a:srgbClr val="29BA74"/>
                </a:solidFill>
                <a:latin typeface="Century Gothic" pitchFamily="34" charset="0"/>
                <a:ea typeface="Century Gothic" pitchFamily="34" charset="-122"/>
                <a:cs typeface="Century Gothic" pitchFamily="34" charset="-120"/>
              </a:rPr>
              <a:t>06</a:t>
            </a:r>
            <a:endParaRPr lang="en-US" sz="3200" dirty="0"/>
          </a:p>
        </p:txBody>
      </p:sp>
      <p:sp>
        <p:nvSpPr>
          <p:cNvPr id="3" name="Text 1"/>
          <p:cNvSpPr/>
          <p:nvPr/>
        </p:nvSpPr>
        <p:spPr>
          <a:xfrm>
            <a:off x="457200" y="1920240"/>
            <a:ext cx="8229600" cy="731520"/>
          </a:xfrm>
          <a:prstGeom prst="rect">
            <a:avLst/>
          </a:prstGeom>
          <a:noFill/>
          <a:ln/>
        </p:spPr>
        <p:txBody>
          <a:bodyPr wrap="square" rtlCol="0" anchor="ctr"/>
          <a:lstStyle/>
          <a:p>
            <a:pPr indent="0" marL="0">
              <a:buNone/>
            </a:pPr>
            <a:r>
              <a:rPr lang="en-US" sz="2800" dirty="0">
                <a:solidFill>
                  <a:srgbClr val="FFFFFF"/>
                </a:solidFill>
                <a:latin typeface="Meiryo UI" pitchFamily="34" charset="0"/>
                <a:ea typeface="Meiryo UI" pitchFamily="34" charset="-122"/>
                <a:cs typeface="Meiryo UI" pitchFamily="34" charset="-120"/>
              </a:rPr>
              <a:t>成果物・お見積もり</a:t>
            </a:r>
            <a:endParaRPr lang="en-US" sz="2800" dirty="0"/>
          </a:p>
        </p:txBody>
      </p:sp>
      <p:sp>
        <p:nvSpPr>
          <p:cNvPr id="4" name="Text 2"/>
          <p:cNvSpPr/>
          <p:nvPr/>
        </p:nvSpPr>
        <p:spPr>
          <a:xfrm>
            <a:off x="457200" y="2743200"/>
            <a:ext cx="8229600" cy="457200"/>
          </a:xfrm>
          <a:prstGeom prst="rect">
            <a:avLst/>
          </a:prstGeom>
          <a:noFill/>
          <a:ln/>
        </p:spPr>
        <p:txBody>
          <a:bodyPr wrap="square" rtlCol="0" anchor="ctr"/>
          <a:lstStyle/>
          <a:p>
            <a:pPr indent="0" marL="0">
              <a:buNone/>
            </a:pPr>
            <a:r>
              <a:rPr lang="en-US" sz="1400" dirty="0">
                <a:solidFill>
                  <a:srgbClr val="FFFFFF"/>
                </a:solidFill>
                <a:latin typeface="Meiryo UI" pitchFamily="34" charset="0"/>
                <a:ea typeface="Meiryo UI" pitchFamily="34" charset="-122"/>
                <a:cs typeface="Meiryo UI" pitchFamily="34" charset="-120"/>
              </a:rPr>
              <a:t>PoCの成果物一覧と費用をご説明します。</a:t>
            </a:r>
            <a:endParaRPr lang="en-US" sz="1400" dirty="0"/>
          </a:p>
        </p:txBody>
      </p:sp>
      <p:sp>
        <p:nvSpPr>
          <p:cNvPr id="5" name="Shape 3"/>
          <p:cNvSpPr/>
          <p:nvPr/>
        </p:nvSpPr>
        <p:spPr>
          <a:xfrm>
            <a:off x="457200" y="3291840"/>
            <a:ext cx="2743200" cy="18288"/>
          </a:xfrm>
          <a:prstGeom prst="rect">
            <a:avLst/>
          </a:prstGeom>
          <a:solidFill>
            <a:srgbClr val="FFFFFF">
              <a:alpha val="50000"/>
            </a:srgbClr>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06 成果物・お見積もり</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Meiryo UI" pitchFamily="34" charset="0"/>
                <a:ea typeface="Meiryo UI" pitchFamily="34" charset="-122"/>
                <a:cs typeface="Meiryo UI" pitchFamily="34" charset="-120"/>
              </a:rPr>
              <a:t>成果物一覧</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Century Gothic" pitchFamily="34" charset="0"/>
                <a:ea typeface="Century Gothic" pitchFamily="34" charset="-122"/>
                <a:cs typeface="Century Gothic" pitchFamily="34" charset="-120"/>
              </a:rPr>
              <a:t>PoC</a:t>
            </a:r>
            <a:pPr indent="0" marL="0">
              <a:buNone/>
            </a:pPr>
            <a:r>
              <a:rPr lang="en-US" sz="1400" dirty="0">
                <a:solidFill>
                  <a:srgbClr val="404040"/>
                </a:solidFill>
                <a:latin typeface="Meiryo UI" pitchFamily="34" charset="0"/>
                <a:ea typeface="Meiryo UI" pitchFamily="34" charset="-122"/>
                <a:cs typeface="Meiryo UI" pitchFamily="34" charset="-120"/>
              </a:rPr>
              <a:t>の学びを次フェーズに活かすためのドキュメントを整備する。</a:t>
            </a:r>
            <a:endParaRPr lang="en-US" sz="1400" dirty="0"/>
          </a:p>
        </p:txBody>
      </p:sp>
      <p:sp>
        <p:nvSpPr>
          <p:cNvPr id="6" name="Shape 4"/>
          <p:cNvSpPr/>
          <p:nvPr/>
        </p:nvSpPr>
        <p:spPr>
          <a:xfrm>
            <a:off x="457200" y="1417320"/>
            <a:ext cx="54864" cy="384048"/>
          </a:xfrm>
          <a:prstGeom prst="rect">
            <a:avLst/>
          </a:prstGeom>
          <a:solidFill>
            <a:srgbClr val="29BA74"/>
          </a:solidFill>
          <a:ln/>
        </p:spPr>
      </p:sp>
      <p:sp>
        <p:nvSpPr>
          <p:cNvPr id="7" name="Text 5"/>
          <p:cNvSpPr/>
          <p:nvPr/>
        </p:nvSpPr>
        <p:spPr>
          <a:xfrm>
            <a:off x="640080" y="1417320"/>
            <a:ext cx="8046720" cy="384048"/>
          </a:xfrm>
          <a:prstGeom prst="rect">
            <a:avLst/>
          </a:prstGeom>
          <a:noFill/>
          <a:ln/>
        </p:spPr>
        <p:txBody>
          <a:bodyPr wrap="square" rtlCol="0" anchor="ctr"/>
          <a:lstStyle/>
          <a:p>
            <a:pPr indent="0" marL="0">
              <a:buNone/>
            </a:pPr>
            <a:r>
              <a:rPr lang="en-US" sz="1200" dirty="0">
                <a:solidFill>
                  <a:srgbClr val="404040"/>
                </a:solidFill>
                <a:latin typeface="Meiryo UI" pitchFamily="34" charset="0"/>
                <a:ea typeface="Meiryo UI" pitchFamily="34" charset="-122"/>
                <a:cs typeface="Meiryo UI" pitchFamily="34" charset="-120"/>
              </a:rPr>
              <a:t>PoC要件定義（目的/KPI/同意運用/対象範囲）</a:t>
            </a:r>
            <a:endParaRPr lang="en-US" sz="1200" dirty="0"/>
          </a:p>
        </p:txBody>
      </p:sp>
      <p:sp>
        <p:nvSpPr>
          <p:cNvPr id="8" name="Shape 6"/>
          <p:cNvSpPr/>
          <p:nvPr/>
        </p:nvSpPr>
        <p:spPr>
          <a:xfrm>
            <a:off x="457200" y="1892808"/>
            <a:ext cx="54864" cy="384048"/>
          </a:xfrm>
          <a:prstGeom prst="rect">
            <a:avLst/>
          </a:prstGeom>
          <a:solidFill>
            <a:srgbClr val="29BA74"/>
          </a:solidFill>
          <a:ln/>
        </p:spPr>
      </p:sp>
      <p:sp>
        <p:nvSpPr>
          <p:cNvPr id="9" name="Text 7"/>
          <p:cNvSpPr/>
          <p:nvPr/>
        </p:nvSpPr>
        <p:spPr>
          <a:xfrm>
            <a:off x="640080" y="1892808"/>
            <a:ext cx="8046720" cy="384048"/>
          </a:xfrm>
          <a:prstGeom prst="rect">
            <a:avLst/>
          </a:prstGeom>
          <a:noFill/>
          <a:ln/>
        </p:spPr>
        <p:txBody>
          <a:bodyPr wrap="square" rtlCol="0" anchor="ctr"/>
          <a:lstStyle/>
          <a:p>
            <a:pPr indent="0" marL="0">
              <a:buNone/>
            </a:pPr>
            <a:r>
              <a:rPr lang="en-US" sz="1200" dirty="0">
                <a:solidFill>
                  <a:srgbClr val="404040"/>
                </a:solidFill>
                <a:latin typeface="Meiryo UI" pitchFamily="34" charset="0"/>
                <a:ea typeface="Meiryo UI" pitchFamily="34" charset="-122"/>
                <a:cs typeface="Meiryo UI" pitchFamily="34" charset="-120"/>
              </a:rPr>
              <a:t>収録〜生成〜格納のPoCワークフロー一式</a:t>
            </a:r>
            <a:endParaRPr lang="en-US" sz="1200" dirty="0"/>
          </a:p>
        </p:txBody>
      </p:sp>
      <p:sp>
        <p:nvSpPr>
          <p:cNvPr id="10" name="Shape 8"/>
          <p:cNvSpPr/>
          <p:nvPr/>
        </p:nvSpPr>
        <p:spPr>
          <a:xfrm>
            <a:off x="457200" y="2368296"/>
            <a:ext cx="54864" cy="384048"/>
          </a:xfrm>
          <a:prstGeom prst="rect">
            <a:avLst/>
          </a:prstGeom>
          <a:solidFill>
            <a:srgbClr val="29BA74"/>
          </a:solidFill>
          <a:ln/>
        </p:spPr>
      </p:sp>
      <p:sp>
        <p:nvSpPr>
          <p:cNvPr id="11" name="Text 9"/>
          <p:cNvSpPr/>
          <p:nvPr/>
        </p:nvSpPr>
        <p:spPr>
          <a:xfrm>
            <a:off x="640080" y="2368296"/>
            <a:ext cx="8046720" cy="384048"/>
          </a:xfrm>
          <a:prstGeom prst="rect">
            <a:avLst/>
          </a:prstGeom>
          <a:noFill/>
          <a:ln/>
        </p:spPr>
        <p:txBody>
          <a:bodyPr wrap="square" rtlCol="0" anchor="ctr"/>
          <a:lstStyle/>
          <a:p>
            <a:pPr indent="0" marL="0">
              <a:buNone/>
            </a:pPr>
            <a:r>
              <a:rPr lang="en-US" sz="1200" dirty="0">
                <a:solidFill>
                  <a:srgbClr val="404040"/>
                </a:solidFill>
                <a:latin typeface="Meiryo UI" pitchFamily="34" charset="0"/>
                <a:ea typeface="Meiryo UI" pitchFamily="34" charset="-122"/>
                <a:cs typeface="Meiryo UI" pitchFamily="34" charset="-120"/>
              </a:rPr>
              <a:t>テンプレート（会員向け面談レポート、顧客カルテ項目、バックヤード相談用サマリ）</a:t>
            </a:r>
            <a:endParaRPr lang="en-US" sz="1200" dirty="0"/>
          </a:p>
        </p:txBody>
      </p:sp>
      <p:sp>
        <p:nvSpPr>
          <p:cNvPr id="12" name="Shape 10"/>
          <p:cNvSpPr/>
          <p:nvPr/>
        </p:nvSpPr>
        <p:spPr>
          <a:xfrm>
            <a:off x="457200" y="2843784"/>
            <a:ext cx="54864" cy="384048"/>
          </a:xfrm>
          <a:prstGeom prst="rect">
            <a:avLst/>
          </a:prstGeom>
          <a:solidFill>
            <a:srgbClr val="29BA74"/>
          </a:solidFill>
          <a:ln/>
        </p:spPr>
      </p:sp>
      <p:sp>
        <p:nvSpPr>
          <p:cNvPr id="13" name="Text 11"/>
          <p:cNvSpPr/>
          <p:nvPr/>
        </p:nvSpPr>
        <p:spPr>
          <a:xfrm>
            <a:off x="640080" y="2843784"/>
            <a:ext cx="8046720" cy="384048"/>
          </a:xfrm>
          <a:prstGeom prst="rect">
            <a:avLst/>
          </a:prstGeom>
          <a:noFill/>
          <a:ln/>
        </p:spPr>
        <p:txBody>
          <a:bodyPr wrap="square" rtlCol="0" anchor="ctr"/>
          <a:lstStyle/>
          <a:p>
            <a:pPr indent="0" marL="0">
              <a:buNone/>
            </a:pPr>
            <a:r>
              <a:rPr lang="en-US" sz="1200" dirty="0">
                <a:solidFill>
                  <a:srgbClr val="404040"/>
                </a:solidFill>
                <a:latin typeface="Meiryo UI" pitchFamily="34" charset="0"/>
                <a:ea typeface="Meiryo UI" pitchFamily="34" charset="-122"/>
                <a:cs typeface="Meiryo UI" pitchFamily="34" charset="-120"/>
              </a:rPr>
              <a:t>運用マニュアル（現場向け）</a:t>
            </a:r>
            <a:endParaRPr lang="en-US" sz="1200" dirty="0"/>
          </a:p>
        </p:txBody>
      </p:sp>
      <p:sp>
        <p:nvSpPr>
          <p:cNvPr id="14" name="Shape 12"/>
          <p:cNvSpPr/>
          <p:nvPr/>
        </p:nvSpPr>
        <p:spPr>
          <a:xfrm>
            <a:off x="457200" y="3319272"/>
            <a:ext cx="54864" cy="384048"/>
          </a:xfrm>
          <a:prstGeom prst="rect">
            <a:avLst/>
          </a:prstGeom>
          <a:solidFill>
            <a:srgbClr val="29BA74"/>
          </a:solidFill>
          <a:ln/>
        </p:spPr>
      </p:sp>
      <p:sp>
        <p:nvSpPr>
          <p:cNvPr id="15" name="Text 13"/>
          <p:cNvSpPr/>
          <p:nvPr/>
        </p:nvSpPr>
        <p:spPr>
          <a:xfrm>
            <a:off x="640080" y="3319272"/>
            <a:ext cx="8046720" cy="384048"/>
          </a:xfrm>
          <a:prstGeom prst="rect">
            <a:avLst/>
          </a:prstGeom>
          <a:noFill/>
          <a:ln/>
        </p:spPr>
        <p:txBody>
          <a:bodyPr wrap="square" rtlCol="0" anchor="ctr"/>
          <a:lstStyle/>
          <a:p>
            <a:pPr indent="0" marL="0">
              <a:buNone/>
            </a:pPr>
            <a:r>
              <a:rPr lang="en-US" sz="1200" dirty="0">
                <a:solidFill>
                  <a:srgbClr val="404040"/>
                </a:solidFill>
                <a:latin typeface="Meiryo UI" pitchFamily="34" charset="0"/>
                <a:ea typeface="Meiryo UI" pitchFamily="34" charset="-122"/>
                <a:cs typeface="Meiryo UI" pitchFamily="34" charset="-120"/>
              </a:rPr>
              <a:t>PoC結果レポート（KPI、結果の総括・課題、次フェーズ案）</a:t>
            </a:r>
            <a:endParaRPr lang="en-US" sz="1200" dirty="0"/>
          </a:p>
        </p:txBody>
      </p:sp>
      <p:sp>
        <p:nvSpPr>
          <p:cNvPr id="16" name="Shape 14"/>
          <p:cNvSpPr/>
          <p:nvPr/>
        </p:nvSpPr>
        <p:spPr>
          <a:xfrm>
            <a:off x="457200" y="3794760"/>
            <a:ext cx="54864" cy="384048"/>
          </a:xfrm>
          <a:prstGeom prst="rect">
            <a:avLst/>
          </a:prstGeom>
          <a:solidFill>
            <a:srgbClr val="29BA74"/>
          </a:solidFill>
          <a:ln/>
        </p:spPr>
      </p:sp>
      <p:sp>
        <p:nvSpPr>
          <p:cNvPr id="17" name="Text 15"/>
          <p:cNvSpPr/>
          <p:nvPr/>
        </p:nvSpPr>
        <p:spPr>
          <a:xfrm>
            <a:off x="640080" y="3794760"/>
            <a:ext cx="8046720" cy="384048"/>
          </a:xfrm>
          <a:prstGeom prst="rect">
            <a:avLst/>
          </a:prstGeom>
          <a:noFill/>
          <a:ln/>
        </p:spPr>
        <p:txBody>
          <a:bodyPr wrap="square" rtlCol="0" anchor="ctr"/>
          <a:lstStyle/>
          <a:p>
            <a:pPr indent="0" marL="0">
              <a:buNone/>
            </a:pPr>
            <a:r>
              <a:rPr lang="en-US" sz="1200" dirty="0">
                <a:solidFill>
                  <a:srgbClr val="404040"/>
                </a:solidFill>
                <a:latin typeface="Meiryo UI" pitchFamily="34" charset="0"/>
                <a:ea typeface="Meiryo UI" pitchFamily="34" charset="-122"/>
                <a:cs typeface="Meiryo UI" pitchFamily="34" charset="-120"/>
              </a:rPr>
              <a:t>次フェーズ（全社展開/基幹連携）ロードマップ</a:t>
            </a:r>
            <a:endParaRPr lang="en-US" sz="1200" dirty="0"/>
          </a:p>
        </p:txBody>
      </p:sp>
      <p:sp>
        <p:nvSpPr>
          <p:cNvPr id="18" name="Text 16"/>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19" name="Text 17"/>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15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28600"/>
            <a:ext cx="54864" cy="320040"/>
          </a:xfrm>
          <a:prstGeom prst="rect">
            <a:avLst/>
          </a:prstGeom>
          <a:solidFill>
            <a:srgbClr val="29BA74"/>
          </a:solidFill>
          <a:ln/>
        </p:spPr>
      </p:sp>
      <p:sp>
        <p:nvSpPr>
          <p:cNvPr id="3" name="Text 1"/>
          <p:cNvSpPr/>
          <p:nvPr/>
        </p:nvSpPr>
        <p:spPr>
          <a:xfrm>
            <a:off x="502920" y="228600"/>
            <a:ext cx="3657600" cy="32004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06 成果物・お見積もり</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000" dirty="0">
                <a:solidFill>
                  <a:srgbClr val="404040"/>
                </a:solidFill>
                <a:latin typeface="Meiryo UI" pitchFamily="34" charset="0"/>
                <a:ea typeface="Meiryo UI" pitchFamily="34" charset="-122"/>
                <a:cs typeface="Meiryo UI" pitchFamily="34" charset="-120"/>
              </a:rPr>
              <a:t>お見積もり</a:t>
            </a:r>
            <a:endParaRPr lang="en-US" sz="2000" dirty="0"/>
          </a:p>
        </p:txBody>
      </p:sp>
      <p:sp>
        <p:nvSpPr>
          <p:cNvPr id="5" name="Text 3"/>
          <p:cNvSpPr/>
          <p:nvPr/>
        </p:nvSpPr>
        <p:spPr>
          <a:xfrm>
            <a:off x="457200" y="960120"/>
            <a:ext cx="8229600" cy="365760"/>
          </a:xfrm>
          <a:prstGeom prst="rect">
            <a:avLst/>
          </a:prstGeom>
          <a:noFill/>
          <a:ln/>
        </p:spPr>
        <p:txBody>
          <a:bodyPr wrap="square" rtlCol="0" anchor="ctr"/>
          <a:lstStyle/>
          <a:p>
            <a:pPr indent="0" marL="0">
              <a:buNone/>
            </a:pPr>
            <a:r>
              <a:rPr lang="en-US" sz="1400" dirty="0">
                <a:solidFill>
                  <a:srgbClr val="404040"/>
                </a:solidFill>
                <a:latin typeface="Meiryo UI" pitchFamily="34" charset="0"/>
                <a:ea typeface="Meiryo UI" pitchFamily="34" charset="-122"/>
                <a:cs typeface="Meiryo UI" pitchFamily="34" charset="-120"/>
              </a:rPr>
              <a:t>まずはパターン</a:t>
            </a:r>
            <a:pPr indent="0" marL="0">
              <a:buNone/>
            </a:pPr>
            <a:r>
              <a:rPr lang="en-US" sz="1400" dirty="0">
                <a:solidFill>
                  <a:srgbClr val="404040"/>
                </a:solidFill>
                <a:latin typeface="Century Gothic" pitchFamily="34" charset="0"/>
                <a:ea typeface="Century Gothic" pitchFamily="34" charset="-122"/>
                <a:cs typeface="Century Gothic" pitchFamily="34" charset="-120"/>
              </a:rPr>
              <a:t>A</a:t>
            </a:r>
            <a:pPr indent="0" marL="0">
              <a:buNone/>
            </a:pPr>
            <a:r>
              <a:rPr lang="en-US" sz="1400" dirty="0">
                <a:solidFill>
                  <a:srgbClr val="404040"/>
                </a:solidFill>
                <a:latin typeface="Meiryo UI" pitchFamily="34" charset="0"/>
                <a:ea typeface="Meiryo UI" pitchFamily="34" charset="-122"/>
                <a:cs typeface="Meiryo UI" pitchFamily="34" charset="-120"/>
              </a:rPr>
              <a:t>で価値検証に集中し、成果に応じて拡張することを推奨する。</a:t>
            </a:r>
            <a:endParaRPr lang="en-US" sz="1400" dirty="0"/>
          </a:p>
        </p:txBody>
      </p:sp>
      <p:sp>
        <p:nvSpPr>
          <p:cNvPr id="6" name="Shape 4"/>
          <p:cNvSpPr/>
          <p:nvPr/>
        </p:nvSpPr>
        <p:spPr>
          <a:xfrm>
            <a:off x="457200" y="1417320"/>
            <a:ext cx="3931920" cy="2697480"/>
          </a:xfrm>
          <a:prstGeom prst="rect">
            <a:avLst/>
          </a:prstGeom>
          <a:solidFill>
            <a:srgbClr val="FFFFFF"/>
          </a:solidFill>
          <a:ln w="25400">
            <a:solidFill>
              <a:srgbClr val="29BA74"/>
            </a:solidFill>
            <a:prstDash val="solid"/>
          </a:ln>
        </p:spPr>
      </p:sp>
      <p:sp>
        <p:nvSpPr>
          <p:cNvPr id="7" name="Shape 5"/>
          <p:cNvSpPr/>
          <p:nvPr/>
        </p:nvSpPr>
        <p:spPr>
          <a:xfrm>
            <a:off x="457200" y="1417320"/>
            <a:ext cx="3931920" cy="365760"/>
          </a:xfrm>
          <a:prstGeom prst="rect">
            <a:avLst/>
          </a:prstGeom>
          <a:solidFill>
            <a:srgbClr val="29BA74"/>
          </a:solidFill>
          <a:ln/>
        </p:spPr>
      </p:sp>
      <p:sp>
        <p:nvSpPr>
          <p:cNvPr id="8" name="Text 6"/>
          <p:cNvSpPr/>
          <p:nvPr/>
        </p:nvSpPr>
        <p:spPr>
          <a:xfrm>
            <a:off x="457200" y="1417320"/>
            <a:ext cx="3931920" cy="365760"/>
          </a:xfrm>
          <a:prstGeom prst="rect">
            <a:avLst/>
          </a:prstGeom>
          <a:noFill/>
          <a:ln/>
        </p:spPr>
        <p:txBody>
          <a:bodyPr wrap="square"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プランA（推奨）</a:t>
            </a:r>
            <a:endParaRPr lang="en-US" sz="1300" dirty="0"/>
          </a:p>
        </p:txBody>
      </p:sp>
      <p:sp>
        <p:nvSpPr>
          <p:cNvPr id="9" name="Text 7"/>
          <p:cNvSpPr/>
          <p:nvPr/>
        </p:nvSpPr>
        <p:spPr>
          <a:xfrm>
            <a:off x="548640" y="1847088"/>
            <a:ext cx="3749040" cy="256032"/>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Notionのみ、標準スコープ</a:t>
            </a:r>
            <a:endParaRPr lang="en-US" sz="1000" dirty="0"/>
          </a:p>
        </p:txBody>
      </p:sp>
      <p:sp>
        <p:nvSpPr>
          <p:cNvPr id="10" name="Text 8"/>
          <p:cNvSpPr/>
          <p:nvPr/>
        </p:nvSpPr>
        <p:spPr>
          <a:xfrm>
            <a:off x="548640" y="2103120"/>
            <a:ext cx="3749040" cy="502920"/>
          </a:xfrm>
          <a:prstGeom prst="rect">
            <a:avLst/>
          </a:prstGeom>
          <a:noFill/>
          <a:ln/>
        </p:spPr>
        <p:txBody>
          <a:bodyPr wrap="square" rtlCol="0" anchor="ctr"/>
          <a:lstStyle/>
          <a:p>
            <a:pPr indent="0" marL="0">
              <a:buNone/>
            </a:pPr>
            <a:r>
              <a:rPr lang="en-US" sz="2800" b="1" dirty="0">
                <a:solidFill>
                  <a:srgbClr val="29BA74"/>
                </a:solidFill>
                <a:latin typeface="Century Gothic" pitchFamily="34" charset="0"/>
                <a:ea typeface="Century Gothic" pitchFamily="34" charset="-122"/>
                <a:cs typeface="Century Gothic" pitchFamily="34" charset="-120"/>
              </a:rPr>
              <a:t>600万円</a:t>
            </a:r>
            <a:endParaRPr lang="en-US" sz="2800" dirty="0"/>
          </a:p>
        </p:txBody>
      </p:sp>
      <p:sp>
        <p:nvSpPr>
          <p:cNvPr id="11" name="Text 9"/>
          <p:cNvSpPr/>
          <p:nvPr/>
        </p:nvSpPr>
        <p:spPr>
          <a:xfrm>
            <a:off x="2286000" y="2304288"/>
            <a:ext cx="1371600" cy="22860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（税別）</a:t>
            </a:r>
            <a:endParaRPr lang="en-US" sz="1000" dirty="0"/>
          </a:p>
        </p:txBody>
      </p:sp>
      <p:sp>
        <p:nvSpPr>
          <p:cNvPr id="12" name="Text 10"/>
          <p:cNvSpPr/>
          <p:nvPr/>
        </p:nvSpPr>
        <p:spPr>
          <a:xfrm>
            <a:off x="548640" y="2633472"/>
            <a:ext cx="3749040" cy="201168"/>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期間: 2ヶ月</a:t>
            </a:r>
            <a:endParaRPr lang="en-US" sz="1000" dirty="0"/>
          </a:p>
        </p:txBody>
      </p:sp>
      <p:sp>
        <p:nvSpPr>
          <p:cNvPr id="13" name="Text 11"/>
          <p:cNvSpPr/>
          <p:nvPr/>
        </p:nvSpPr>
        <p:spPr>
          <a:xfrm>
            <a:off x="548640" y="2880360"/>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同意取得〜レポート生成フロー</a:t>
            </a:r>
            <a:endParaRPr lang="en-US" sz="1000" dirty="0"/>
          </a:p>
        </p:txBody>
      </p:sp>
      <p:sp>
        <p:nvSpPr>
          <p:cNvPr id="14" name="Text 12"/>
          <p:cNvSpPr/>
          <p:nvPr/>
        </p:nvSpPr>
        <p:spPr>
          <a:xfrm>
            <a:off x="548640" y="3136392"/>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テンプレートの作り込み</a:t>
            </a:r>
            <a:endParaRPr lang="en-US" sz="1000" dirty="0"/>
          </a:p>
        </p:txBody>
      </p:sp>
      <p:sp>
        <p:nvSpPr>
          <p:cNvPr id="15" name="Text 13"/>
          <p:cNvSpPr/>
          <p:nvPr/>
        </p:nvSpPr>
        <p:spPr>
          <a:xfrm>
            <a:off x="548640" y="3392424"/>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カルテ項目の詳細設計</a:t>
            </a:r>
            <a:endParaRPr lang="en-US" sz="1000" dirty="0"/>
          </a:p>
        </p:txBody>
      </p:sp>
      <p:sp>
        <p:nvSpPr>
          <p:cNvPr id="16" name="Text 14"/>
          <p:cNvSpPr/>
          <p:nvPr/>
        </p:nvSpPr>
        <p:spPr>
          <a:xfrm>
            <a:off x="548640" y="3648456"/>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ヒアリング4〜5回</a:t>
            </a:r>
            <a:endParaRPr lang="en-US" sz="1000" dirty="0"/>
          </a:p>
        </p:txBody>
      </p:sp>
      <p:sp>
        <p:nvSpPr>
          <p:cNvPr id="17" name="Shape 15"/>
          <p:cNvSpPr/>
          <p:nvPr/>
        </p:nvSpPr>
        <p:spPr>
          <a:xfrm>
            <a:off x="4754880" y="1417320"/>
            <a:ext cx="3931920" cy="2697480"/>
          </a:xfrm>
          <a:prstGeom prst="rect">
            <a:avLst/>
          </a:prstGeom>
          <a:solidFill>
            <a:srgbClr val="FFFFFF"/>
          </a:solidFill>
          <a:ln w="12700">
            <a:solidFill>
              <a:srgbClr val="A6A6A6"/>
            </a:solidFill>
            <a:prstDash val="solid"/>
          </a:ln>
        </p:spPr>
      </p:sp>
      <p:sp>
        <p:nvSpPr>
          <p:cNvPr id="18" name="Shape 16"/>
          <p:cNvSpPr/>
          <p:nvPr/>
        </p:nvSpPr>
        <p:spPr>
          <a:xfrm>
            <a:off x="4754880" y="1417320"/>
            <a:ext cx="3931920" cy="365760"/>
          </a:xfrm>
          <a:prstGeom prst="rect">
            <a:avLst/>
          </a:prstGeom>
          <a:solidFill>
            <a:srgbClr val="A6A6A6"/>
          </a:solidFill>
          <a:ln/>
        </p:spPr>
      </p:sp>
      <p:sp>
        <p:nvSpPr>
          <p:cNvPr id="19" name="Text 17"/>
          <p:cNvSpPr/>
          <p:nvPr/>
        </p:nvSpPr>
        <p:spPr>
          <a:xfrm>
            <a:off x="4754880" y="1417320"/>
            <a:ext cx="3931920" cy="365760"/>
          </a:xfrm>
          <a:prstGeom prst="rect">
            <a:avLst/>
          </a:prstGeom>
          <a:noFill/>
          <a:ln/>
        </p:spPr>
        <p:txBody>
          <a:bodyPr wrap="square"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プランB</a:t>
            </a:r>
            <a:endParaRPr lang="en-US" sz="1300" dirty="0"/>
          </a:p>
        </p:txBody>
      </p:sp>
      <p:sp>
        <p:nvSpPr>
          <p:cNvPr id="20" name="Text 18"/>
          <p:cNvSpPr/>
          <p:nvPr/>
        </p:nvSpPr>
        <p:spPr>
          <a:xfrm>
            <a:off x="4846320" y="1847088"/>
            <a:ext cx="3749040" cy="256032"/>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外部プロダクト併用</a:t>
            </a:r>
            <a:endParaRPr lang="en-US" sz="1000" dirty="0"/>
          </a:p>
        </p:txBody>
      </p:sp>
      <p:sp>
        <p:nvSpPr>
          <p:cNvPr id="21" name="Text 19"/>
          <p:cNvSpPr/>
          <p:nvPr/>
        </p:nvSpPr>
        <p:spPr>
          <a:xfrm>
            <a:off x="4846320" y="2103120"/>
            <a:ext cx="3749040" cy="502920"/>
          </a:xfrm>
          <a:prstGeom prst="rect">
            <a:avLst/>
          </a:prstGeom>
          <a:noFill/>
          <a:ln/>
        </p:spPr>
        <p:txBody>
          <a:bodyPr wrap="square" rtlCol="0" anchor="ctr"/>
          <a:lstStyle/>
          <a:p>
            <a:pPr indent="0" marL="0">
              <a:buNone/>
            </a:pPr>
            <a:r>
              <a:rPr lang="en-US" sz="2800" b="1" dirty="0">
                <a:solidFill>
                  <a:srgbClr val="404040"/>
                </a:solidFill>
                <a:latin typeface="Century Gothic" pitchFamily="34" charset="0"/>
                <a:ea typeface="Century Gothic" pitchFamily="34" charset="-122"/>
                <a:cs typeface="Century Gothic" pitchFamily="34" charset="-120"/>
              </a:rPr>
              <a:t>800万円</a:t>
            </a:r>
            <a:endParaRPr lang="en-US" sz="2800" dirty="0"/>
          </a:p>
        </p:txBody>
      </p:sp>
      <p:sp>
        <p:nvSpPr>
          <p:cNvPr id="22" name="Text 20"/>
          <p:cNvSpPr/>
          <p:nvPr/>
        </p:nvSpPr>
        <p:spPr>
          <a:xfrm>
            <a:off x="6583680" y="2304288"/>
            <a:ext cx="1371600" cy="228600"/>
          </a:xfrm>
          <a:prstGeom prst="rect">
            <a:avLst/>
          </a:prstGeom>
          <a:noFill/>
          <a:ln/>
        </p:spPr>
        <p:txBody>
          <a:bodyPr wrap="square" rtlCol="0" anchor="ctr"/>
          <a:lstStyle/>
          <a:p>
            <a:pPr indent="0" marL="0">
              <a:buNone/>
            </a:pPr>
            <a:r>
              <a:rPr lang="en-US" sz="1000" dirty="0">
                <a:solidFill>
                  <a:srgbClr val="A6A6A6"/>
                </a:solidFill>
                <a:latin typeface="Meiryo UI" pitchFamily="34" charset="0"/>
                <a:ea typeface="Meiryo UI" pitchFamily="34" charset="-122"/>
                <a:cs typeface="Meiryo UI" pitchFamily="34" charset="-120"/>
              </a:rPr>
              <a:t>（税別）</a:t>
            </a:r>
            <a:endParaRPr lang="en-US" sz="1000" dirty="0"/>
          </a:p>
        </p:txBody>
      </p:sp>
      <p:sp>
        <p:nvSpPr>
          <p:cNvPr id="23" name="Text 21"/>
          <p:cNvSpPr/>
          <p:nvPr/>
        </p:nvSpPr>
        <p:spPr>
          <a:xfrm>
            <a:off x="4846320" y="2633472"/>
            <a:ext cx="3749040" cy="201168"/>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期間: 2ヶ月</a:t>
            </a:r>
            <a:endParaRPr lang="en-US" sz="1000" dirty="0"/>
          </a:p>
        </p:txBody>
      </p:sp>
      <p:sp>
        <p:nvSpPr>
          <p:cNvPr id="24" name="Text 22"/>
          <p:cNvSpPr/>
          <p:nvPr/>
        </p:nvSpPr>
        <p:spPr>
          <a:xfrm>
            <a:off x="4846320" y="2880360"/>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プランAの内容すべて</a:t>
            </a:r>
            <a:endParaRPr lang="en-US" sz="1000" dirty="0"/>
          </a:p>
        </p:txBody>
      </p:sp>
      <p:sp>
        <p:nvSpPr>
          <p:cNvPr id="25" name="Text 23"/>
          <p:cNvSpPr/>
          <p:nvPr/>
        </p:nvSpPr>
        <p:spPr>
          <a:xfrm>
            <a:off x="4846320" y="3136392"/>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外部プロダクト連携設計</a:t>
            </a:r>
            <a:endParaRPr lang="en-US" sz="1000" dirty="0"/>
          </a:p>
        </p:txBody>
      </p:sp>
      <p:sp>
        <p:nvSpPr>
          <p:cNvPr id="26" name="Text 24"/>
          <p:cNvSpPr/>
          <p:nvPr/>
        </p:nvSpPr>
        <p:spPr>
          <a:xfrm>
            <a:off x="4846320" y="3392424"/>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アドバイザー評価機能検証</a:t>
            </a:r>
            <a:endParaRPr lang="en-US" sz="1000" dirty="0"/>
          </a:p>
        </p:txBody>
      </p:sp>
      <p:sp>
        <p:nvSpPr>
          <p:cNvPr id="27" name="Text 25"/>
          <p:cNvSpPr/>
          <p:nvPr/>
        </p:nvSpPr>
        <p:spPr>
          <a:xfrm>
            <a:off x="4846320" y="3648456"/>
            <a:ext cx="3749040" cy="237744"/>
          </a:xfrm>
          <a:prstGeom prst="rect">
            <a:avLst/>
          </a:prstGeom>
          <a:noFill/>
          <a:ln/>
        </p:spPr>
        <p:txBody>
          <a:bodyPr wrap="square" rtlCol="0" anchor="ctr"/>
          <a:lstStyle/>
          <a:p>
            <a:pPr indent="0" marL="0">
              <a:buNone/>
            </a:pPr>
            <a:r>
              <a:rPr lang="en-US" sz="1000" dirty="0">
                <a:solidFill>
                  <a:srgbClr val="404040"/>
                </a:solidFill>
                <a:latin typeface="Meiryo UI" pitchFamily="34" charset="0"/>
                <a:ea typeface="Meiryo UI" pitchFamily="34" charset="-122"/>
                <a:cs typeface="Meiryo UI" pitchFamily="34" charset="-120"/>
              </a:rPr>
              <a:t>✓ ヒアリング5〜6回</a:t>
            </a:r>
            <a:endParaRPr lang="en-US" sz="1000" dirty="0"/>
          </a:p>
        </p:txBody>
      </p:sp>
      <p:sp>
        <p:nvSpPr>
          <p:cNvPr id="28" name="Shape 26"/>
          <p:cNvSpPr/>
          <p:nvPr/>
        </p:nvSpPr>
        <p:spPr>
          <a:xfrm>
            <a:off x="457200" y="4206240"/>
            <a:ext cx="8229600" cy="365760"/>
          </a:xfrm>
          <a:prstGeom prst="rect">
            <a:avLst/>
          </a:prstGeom>
          <a:solidFill>
            <a:srgbClr val="F5F5F5"/>
          </a:solidFill>
          <a:ln/>
        </p:spPr>
      </p:sp>
      <p:sp>
        <p:nvSpPr>
          <p:cNvPr id="29" name="Text 27"/>
          <p:cNvSpPr/>
          <p:nvPr/>
        </p:nvSpPr>
        <p:spPr>
          <a:xfrm>
            <a:off x="548640" y="4206240"/>
            <a:ext cx="8046720" cy="365760"/>
          </a:xfrm>
          <a:prstGeom prst="rect">
            <a:avLst/>
          </a:prstGeom>
          <a:noFill/>
          <a:ln/>
        </p:spPr>
        <p:txBody>
          <a:bodyPr wrap="square" rtlCol="0" anchor="ctr"/>
          <a:lstStyle/>
          <a:p>
            <a:pPr indent="0" marL="0">
              <a:buNone/>
            </a:pPr>
            <a:r>
              <a:rPr lang="en-US" sz="900" dirty="0">
                <a:solidFill>
                  <a:srgbClr val="A6A6A6"/>
                </a:solidFill>
                <a:latin typeface="Meiryo UI" pitchFamily="34" charset="0"/>
                <a:ea typeface="Meiryo UI" pitchFamily="34" charset="-122"/>
                <a:cs typeface="Meiryo UI" pitchFamily="34" charset="-120"/>
              </a:rPr>
              <a:t>※Notionライセンス（月額¥3,800/人）・録音デバイス・外部プロダクトライセンスはブライトリンク様側でご準備ください。</a:t>
            </a:r>
            <a:endParaRPr lang="en-US" sz="900" dirty="0"/>
          </a:p>
        </p:txBody>
      </p:sp>
      <p:sp>
        <p:nvSpPr>
          <p:cNvPr id="30" name="Text 28"/>
          <p:cNvSpPr/>
          <p:nvPr/>
        </p:nvSpPr>
        <p:spPr>
          <a:xfrm>
            <a:off x="457200" y="4709160"/>
            <a:ext cx="2743200" cy="228600"/>
          </a:xfrm>
          <a:prstGeom prst="rect">
            <a:avLst/>
          </a:prstGeom>
          <a:noFill/>
          <a:ln/>
        </p:spPr>
        <p:txBody>
          <a:bodyPr wrap="square" rtlCol="0" anchor="ctr"/>
          <a:lstStyle/>
          <a:p>
            <a:pPr indent="0" marL="0">
              <a:buNone/>
            </a:pPr>
            <a:r>
              <a:rPr lang="en-US" sz="800" dirty="0">
                <a:solidFill>
                  <a:srgbClr val="A6A6A6"/>
                </a:solidFill>
                <a:latin typeface="Meiryo UI" pitchFamily="34" charset="0"/>
                <a:ea typeface="Meiryo UI" pitchFamily="34" charset="-122"/>
                <a:cs typeface="Meiryo UI" pitchFamily="34" charset="-120"/>
              </a:rPr>
              <a:t>© Eight Hundred Inc.</a:t>
            </a:r>
            <a:endParaRPr lang="en-US" sz="800" dirty="0"/>
          </a:p>
        </p:txBody>
      </p:sp>
      <p:sp>
        <p:nvSpPr>
          <p:cNvPr id="31" name="Text 29"/>
          <p:cNvSpPr/>
          <p:nvPr/>
        </p:nvSpPr>
        <p:spPr>
          <a:xfrm>
            <a:off x="8412480" y="4709160"/>
            <a:ext cx="457200" cy="228600"/>
          </a:xfrm>
          <a:prstGeom prst="rect">
            <a:avLst/>
          </a:prstGeom>
          <a:noFill/>
          <a:ln/>
        </p:spPr>
        <p:txBody>
          <a:bodyPr wrap="square" rtlCol="0" anchor="ctr"/>
          <a:lstStyle/>
          <a:p>
            <a:pPr algn="r" indent="0" marL="0">
              <a:buNone/>
            </a:pPr>
            <a:r>
              <a:rPr lang="en-US" sz="800" dirty="0">
                <a:solidFill>
                  <a:srgbClr val="A6A6A6"/>
                </a:solidFill>
                <a:latin typeface="Century Gothic" pitchFamily="34" charset="0"/>
                <a:ea typeface="Century Gothic" pitchFamily="34" charset="-122"/>
                <a:cs typeface="Century Gothic" pitchFamily="34" charset="-120"/>
              </a:rPr>
              <a:t>16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928"/>
        </a:solidFill>
      </p:bgPr>
    </p:bg>
    <p:spTree>
      <p:nvGrpSpPr>
        <p:cNvPr id="1" name=""/>
        <p:cNvGrpSpPr/>
        <p:nvPr/>
      </p:nvGrpSpPr>
      <p:grpSpPr>
        <a:xfrm>
          <a:off x="0" y="0"/>
          <a:ext cx="0" cy="0"/>
          <a:chOff x="0" y="0"/>
          <a:chExt cx="0" cy="0"/>
        </a:xfrm>
      </p:grpSpPr>
      <p:sp>
        <p:nvSpPr>
          <p:cNvPr id="2" name="Text 0"/>
          <p:cNvSpPr/>
          <p:nvPr/>
        </p:nvSpPr>
        <p:spPr>
          <a:xfrm>
            <a:off x="457200" y="1828800"/>
            <a:ext cx="8229600" cy="731520"/>
          </a:xfrm>
          <a:prstGeom prst="rect">
            <a:avLst/>
          </a:prstGeom>
          <a:noFill/>
          <a:ln/>
        </p:spPr>
        <p:txBody>
          <a:bodyPr wrap="square" rtlCol="0" anchor="ctr"/>
          <a:lstStyle/>
          <a:p>
            <a:pPr algn="ctr" indent="0" marL="0">
              <a:buNone/>
            </a:pPr>
            <a:r>
              <a:rPr lang="en-US" sz="2800" dirty="0">
                <a:solidFill>
                  <a:srgbClr val="FFFFFF"/>
                </a:solidFill>
                <a:latin typeface="Meiryo UI" pitchFamily="34" charset="0"/>
                <a:ea typeface="Meiryo UI" pitchFamily="34" charset="-122"/>
                <a:cs typeface="Meiryo UI" pitchFamily="34" charset="-120"/>
              </a:rPr>
              <a:t>ご清聴ありがとうございました</a:t>
            </a:r>
            <a:endParaRPr lang="en-US" sz="2800" dirty="0"/>
          </a:p>
        </p:txBody>
      </p:sp>
      <p:sp>
        <p:nvSpPr>
          <p:cNvPr id="3" name="Text 1"/>
          <p:cNvSpPr/>
          <p:nvPr/>
        </p:nvSpPr>
        <p:spPr>
          <a:xfrm>
            <a:off x="457200" y="2743200"/>
            <a:ext cx="8229600" cy="731520"/>
          </a:xfrm>
          <a:prstGeom prst="rect">
            <a:avLst/>
          </a:prstGeom>
          <a:noFill/>
          <a:ln/>
        </p:spPr>
        <p:txBody>
          <a:bodyPr wrap="square" rtlCol="0" anchor="ctr"/>
          <a:lstStyle/>
          <a:p>
            <a:pPr algn="ctr" indent="0" marL="0">
              <a:buNone/>
            </a:pPr>
            <a:r>
              <a:rPr lang="en-US" sz="1400" dirty="0">
                <a:solidFill>
                  <a:srgbClr val="FFFFFF"/>
                </a:solidFill>
                <a:latin typeface="Meiryo UI" pitchFamily="34" charset="0"/>
                <a:ea typeface="Meiryo UI" pitchFamily="34" charset="-122"/>
                <a:cs typeface="Meiryo UI" pitchFamily="34" charset="-120"/>
              </a:rPr>
              <a:t>ご不明点・ご質問等ございましたら</a:t>
            </a:r>
            <a:endParaRPr lang="en-US" sz="1400" dirty="0"/>
          </a:p>
          <a:p>
            <a:pPr algn="ctr" indent="0" marL="0">
              <a:buNone/>
            </a:pPr>
            <a:r>
              <a:rPr lang="en-US" sz="1400" dirty="0">
                <a:solidFill>
                  <a:srgbClr val="FFFFFF"/>
                </a:solidFill>
                <a:latin typeface="Meiryo UI" pitchFamily="34" charset="0"/>
                <a:ea typeface="Meiryo UI" pitchFamily="34" charset="-122"/>
                <a:cs typeface="Meiryo UI" pitchFamily="34" charset="-120"/>
              </a:rPr>
              <a:t>お気軽にお申し付けください。</a:t>
            </a:r>
            <a:endParaRPr lang="en-US" sz="1400" dirty="0"/>
          </a:p>
        </p:txBody>
      </p:sp>
      <p:sp>
        <p:nvSpPr>
          <p:cNvPr id="4" name="Text 2"/>
          <p:cNvSpPr/>
          <p:nvPr/>
        </p:nvSpPr>
        <p:spPr>
          <a:xfrm>
            <a:off x="457200" y="4206240"/>
            <a:ext cx="1371600" cy="365760"/>
          </a:xfrm>
          <a:prstGeom prst="rect">
            <a:avLst/>
          </a:prstGeom>
          <a:noFill/>
          <a:ln/>
        </p:spPr>
        <p:txBody>
          <a:bodyPr wrap="square" rtlCol="0" anchor="ctr"/>
          <a:lstStyle/>
          <a:p>
            <a:pPr indent="0" marL="0">
              <a:buNone/>
            </a:pPr>
            <a:r>
              <a:rPr lang="en-US" sz="1600" dirty="0">
                <a:solidFill>
                  <a:srgbClr val="FFFFFF"/>
                </a:solidFill>
                <a:latin typeface="Century Gothic" pitchFamily="34" charset="0"/>
                <a:ea typeface="Century Gothic" pitchFamily="34" charset="-122"/>
                <a:cs typeface="Century Gothic" pitchFamily="34" charset="-120"/>
              </a:rPr>
              <a:t>≠800</a:t>
            </a:r>
            <a:endParaRPr lang="en-US" sz="1600" dirty="0"/>
          </a:p>
        </p:txBody>
      </p:sp>
      <p:sp>
        <p:nvSpPr>
          <p:cNvPr id="5" name="Text 3"/>
          <p:cNvSpPr/>
          <p:nvPr/>
        </p:nvSpPr>
        <p:spPr>
          <a:xfrm>
            <a:off x="1828800" y="4206240"/>
            <a:ext cx="3657600" cy="365760"/>
          </a:xfrm>
          <a:prstGeom prst="rect">
            <a:avLst/>
          </a:prstGeom>
          <a:noFill/>
          <a:ln/>
        </p:spPr>
        <p:txBody>
          <a:bodyPr wrap="square" rtlCol="0" anchor="ctr"/>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株式会社エイトハンドレッド</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ブライトリンク様_アドバイザー業務でのAI活用提案</dc:title>
  <dc:subject>PptxGenJS Presentation</dc:subject>
  <dc:creator>Eight Hundred Inc.</dc:creator>
  <cp:lastModifiedBy>Eight Hundred Inc.</cp:lastModifiedBy>
  <cp:revision>1</cp:revision>
  <dcterms:created xsi:type="dcterms:W3CDTF">2026-02-02T03:22:35Z</dcterms:created>
  <dcterms:modified xsi:type="dcterms:W3CDTF">2026-02-02T03:22:35Z</dcterms:modified>
</cp:coreProperties>
</file>